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3200400" cy="457200"/>
          </a:xfrm>
          <a:prstGeom prst="rect">
            <a:avLst/>
          </a:prstGeom>
          <a:noFill/>
        </p:spPr>
        <p:txBody>
          <a:bodyPr wrap="none">
            <a:spAutoFit/>
          </a:bodyPr>
          <a:lstStyle/>
          <a:p>
            <a:pPr>
              <a:defRPr b="1" sz="1400">
                <a:solidFill>
                  <a:srgbClr val="FFFFFF"/>
                </a:solidFill>
                <a:latin typeface="Segoe UI"/>
              </a:defRPr>
            </a:pPr>
            <a:r>
              <a:t>BYTENEKO SAAS</a:t>
            </a:r>
          </a:p>
        </p:txBody>
      </p:sp>
      <p:sp>
        <p:nvSpPr>
          <p:cNvPr id="4" name="TextBox 3"/>
          <p:cNvSpPr txBox="1"/>
          <p:nvPr/>
        </p:nvSpPr>
        <p:spPr>
          <a:xfrm>
            <a:off x="4572000" y="2286000"/>
            <a:ext cx="6400800" cy="1828800"/>
          </a:xfrm>
          <a:prstGeom prst="rect">
            <a:avLst/>
          </a:prstGeom>
          <a:noFill/>
        </p:spPr>
        <p:txBody>
          <a:bodyPr wrap="square">
            <a:normAutofit/>
          </a:bodyPr>
          <a:lstStyle/>
          <a:p>
            <a:pPr>
              <a:defRPr b="1" sz="4400">
                <a:solidFill>
                  <a:srgbClr val="111827"/>
                </a:solidFill>
                <a:latin typeface="Segoe UI"/>
              </a:defRPr>
            </a:pPr>
            <a:r>
              <a:t>Título Extremadamente Largo Título Extremadamente Largo Título Extremadamente Largo Título Extremadamente Largo Título Extremadamente Largo </a:t>
            </a:r>
          </a:p>
        </p:txBody>
      </p:sp>
      <p:sp>
        <p:nvSpPr>
          <p:cNvPr id="5" name="TextBox 4"/>
          <p:cNvSpPr txBox="1"/>
          <p:nvPr/>
        </p:nvSpPr>
        <p:spPr>
          <a:xfrm>
            <a:off x="4572000" y="4572000"/>
            <a:ext cx="6400800" cy="1371600"/>
          </a:xfrm>
          <a:prstGeom prst="rect">
            <a:avLst/>
          </a:prstGeom>
          <a:noFill/>
        </p:spPr>
        <p:txBody>
          <a:bodyPr wrap="none">
            <a:spAutoFit/>
          </a:bodyPr>
          <a:lstStyle/>
          <a:p>
            <a:pPr>
              <a:defRPr sz="1400">
                <a:solidFill>
                  <a:srgbClr val="6B7280"/>
                </a:solidFill>
                <a:latin typeface="Segoe UI"/>
              </a:defRPr>
            </a:pPr>
            <a:r>
              <a:t>Generado por: Usuario del Sistema</a:t>
            </a:r>
            <a:br/>
            <a:r>
              <a:t>Fecha: 2026-01-15</a:t>
            </a:r>
            <a:br/>
            <a:r>
              <a:t>Período: 2024 - 2025</a:t>
            </a:r>
          </a:p>
        </p:txBody>
      </p:sp>
      <p:sp>
        <p:nvSpPr>
          <p:cNvPr id="6" name="Oval 5"/>
          <p:cNvSpPr/>
          <p:nvPr/>
        </p:nvSpPr>
        <p:spPr>
          <a:xfrm>
            <a:off x="-914400" y="5029200"/>
            <a:ext cx="2743200" cy="2743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8229600" cy="731520"/>
          </a:xfrm>
          <a:prstGeom prst="rect">
            <a:avLst/>
          </a:prstGeom>
          <a:noFill/>
        </p:spPr>
        <p:txBody>
          <a:bodyPr wrap="square">
            <a:normAutofit/>
          </a:bodyPr>
          <a:lstStyle/>
          <a:p>
            <a:pPr>
              <a:defRPr sz="2400" b="1">
                <a:solidFill>
                  <a:srgbClr val="111827"/>
                </a:solidFill>
                <a:latin typeface="Segoe UI"/>
              </a:defRPr>
            </a:pPr>
            <a:r>
              <a:t>Resumen Ejecutivo</a:t>
            </a:r>
          </a:p>
          <a:p>
            <a:pPr>
              <a:defRPr sz="1400">
                <a:solidFill>
                  <a:srgbClr val="6B7280"/>
                </a:solidFill>
                <a:latin typeface="Segoe UI"/>
              </a:defRPr>
            </a:pPr>
            <a:r>
              <a:t>Principales métricas y hallazgos</a:t>
            </a:r>
          </a:p>
        </p:txBody>
      </p:sp>
      <p:sp>
        <p:nvSpPr>
          <p:cNvPr id="5" name="Rounded Rectangle 4"/>
          <p:cNvSpPr/>
          <p:nvPr/>
        </p:nvSpPr>
        <p:spPr>
          <a:xfrm>
            <a:off x="76809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834640" cy="274320"/>
          </a:xfrm>
          <a:prstGeom prst="rect">
            <a:avLst/>
          </a:prstGeom>
          <a:noFill/>
        </p:spPr>
        <p:txBody>
          <a:bodyPr wrap="none">
            <a:spAutoFit/>
          </a:bodyPr>
          <a:lstStyle/>
          <a:p>
            <a:pPr>
              <a:defRPr sz="1000" b="1">
                <a:solidFill>
                  <a:srgbClr val="6B7280"/>
                </a:solidFill>
                <a:latin typeface="Segoe UI"/>
              </a:defRPr>
            </a:pPr>
            <a:r>
              <a:t>TOTAL RESPUESTAS</a:t>
            </a:r>
          </a:p>
        </p:txBody>
      </p:sp>
      <p:sp>
        <p:nvSpPr>
          <p:cNvPr id="8" name="TextBox 7"/>
          <p:cNvSpPr txBox="1"/>
          <p:nvPr/>
        </p:nvSpPr>
        <p:spPr>
          <a:xfrm>
            <a:off x="914400" y="2057400"/>
            <a:ext cx="2834640" cy="731520"/>
          </a:xfrm>
          <a:prstGeom prst="rect">
            <a:avLst/>
          </a:prstGeom>
          <a:noFill/>
        </p:spPr>
        <p:txBody>
          <a:bodyPr wrap="square" anchor="t">
            <a:normAutofit/>
          </a:bodyPr>
          <a:lstStyle/>
          <a:p>
            <a:pPr>
              <a:defRPr sz="4000" b="1">
                <a:solidFill>
                  <a:srgbClr val="00509E"/>
                </a:solidFill>
                <a:latin typeface="Segoe UI"/>
              </a:defRPr>
            </a:pPr>
            <a:r>
              <a:t>250</a:t>
            </a:r>
          </a:p>
        </p:txBody>
      </p:sp>
      <p:sp>
        <p:nvSpPr>
          <p:cNvPr id="9" name="Rounded Rectangle 8"/>
          <p:cNvSpPr/>
          <p:nvPr/>
        </p:nvSpPr>
        <p:spPr>
          <a:xfrm>
            <a:off x="4334256" y="168249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64592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828800"/>
            <a:ext cx="2834640" cy="274320"/>
          </a:xfrm>
          <a:prstGeom prst="rect">
            <a:avLst/>
          </a:prstGeom>
          <a:noFill/>
        </p:spPr>
        <p:txBody>
          <a:bodyPr wrap="none">
            <a:spAutoFit/>
          </a:bodyPr>
          <a:lstStyle/>
          <a:p>
            <a:pPr>
              <a:defRPr sz="1000" b="1">
                <a:solidFill>
                  <a:srgbClr val="6B7280"/>
                </a:solidFill>
                <a:latin typeface="Segoe UI"/>
              </a:defRPr>
            </a:pPr>
            <a:r>
              <a:t>SCORE GENERAL</a:t>
            </a:r>
          </a:p>
        </p:txBody>
      </p:sp>
      <p:sp>
        <p:nvSpPr>
          <p:cNvPr id="12" name="TextBox 11"/>
          <p:cNvSpPr txBox="1"/>
          <p:nvPr/>
        </p:nvSpPr>
        <p:spPr>
          <a:xfrm>
            <a:off x="4480560" y="2057400"/>
            <a:ext cx="2834640" cy="731520"/>
          </a:xfrm>
          <a:prstGeom prst="rect">
            <a:avLst/>
          </a:prstGeom>
          <a:noFill/>
        </p:spPr>
        <p:txBody>
          <a:bodyPr wrap="square" anchor="t">
            <a:normAutofit/>
          </a:bodyPr>
          <a:lstStyle/>
          <a:p>
            <a:pPr>
              <a:defRPr sz="4000" b="1">
                <a:solidFill>
                  <a:srgbClr val="00509E"/>
                </a:solidFill>
                <a:latin typeface="Segoe UI"/>
              </a:defRPr>
            </a:pPr>
            <a:r>
              <a:t>8.2/10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normAutofit/>
          </a:bodyPr>
          <a:lstStyle/>
          <a:p>
            <a:pPr>
              <a:defRPr sz="2400" b="1">
                <a:solidFill>
                  <a:srgbClr val="111827"/>
                </a:solidFill>
                <a:latin typeface="Segoe UI"/>
              </a:defRPr>
            </a:pPr>
            <a:r>
              <a:t>Detalle de Resultados</a:t>
            </a:r>
          </a:p>
          <a:p>
            <a:pPr>
              <a:defRPr sz="1400">
                <a:solidFill>
                  <a:srgbClr val="6B7280"/>
                </a:solidFill>
                <a:latin typeface="Segoe UI"/>
              </a:defRPr>
            </a:pPr>
            <a:r>
              <a:t>Vista rápida por pregunta</a:t>
            </a:r>
          </a:p>
        </p:txBody>
      </p:sp>
      <p:graphicFrame>
        <p:nvGraphicFramePr>
          <p:cNvPr id="4" name="Table 3"/>
          <p:cNvGraphicFramePr>
            <a:graphicFrameLocks noGrp="1"/>
          </p:cNvGraphicFramePr>
          <p:nvPr/>
        </p:nvGraphicFramePr>
        <p:xfrm>
          <a:off x="731520" y="1371600"/>
          <a:ext cx="10515600" cy="731520"/>
        </p:xfrm>
        <a:graphic>
          <a:graphicData uri="http://schemas.openxmlformats.org/drawingml/2006/table">
            <a:tbl>
              <a:tblPr firstRow="1" bandRow="1">
                <a:tableStyleId>{5C22544A-7EE6-4342-B048-85BDC9FD1C3A}</a:tableStyleId>
              </a:tblPr>
              <a:tblGrid>
                <a:gridCol w="5943600"/>
                <a:gridCol w="2743200"/>
                <a:gridCol w="1828800"/>
              </a:tblGrid>
              <a:tr h="365760">
                <a:tc>
                  <a:txBody>
                    <a:bodyPr/>
                    <a:lstStyle/>
                    <a:p>
                      <a:pPr>
                        <a:defRPr b="1" sz="1100">
                          <a:solidFill>
                            <a:srgbClr val="00509E"/>
                          </a:solidFill>
                        </a:defRPr>
                      </a:pPr>
                      <a:r>
                        <a:t>Pregunta</a:t>
                      </a:r>
                    </a:p>
                  </a:txBody>
                  <a:tcPr>
                    <a:solidFill>
                      <a:srgbClr val="E6EEF5"/>
                    </a:solidFill>
                  </a:tcPr>
                </a:tc>
                <a:tc>
                  <a:txBody>
                    <a:bodyPr/>
                    <a:lstStyle/>
                    <a:p>
                      <a:pPr>
                        <a:defRPr b="1" sz="1100">
                          <a:solidFill>
                            <a:srgbClr val="00509E"/>
                          </a:solidFill>
                        </a:defRPr>
                      </a:pPr>
                      <a:r>
                        <a:t>Métrica Clave</a:t>
                      </a:r>
                    </a:p>
                  </a:txBody>
                  <a:tcPr>
                    <a:solidFill>
                      <a:srgbClr val="E6EEF5"/>
                    </a:solidFill>
                  </a:tcPr>
                </a:tc>
                <a:tc>
                  <a:txBody>
                    <a:bodyPr/>
                    <a:lstStyle/>
                    <a:p>
                      <a:pPr>
                        <a:defRPr b="1" sz="1100">
                          <a:solidFill>
                            <a:srgbClr val="00509E"/>
                          </a:solidFill>
                        </a:defRPr>
                      </a:pPr>
                      <a:r>
                        <a:t>Score/Valor</a:t>
                      </a:r>
                    </a:p>
                  </a:txBody>
                  <a:tcPr>
                    <a:solidFill>
                      <a:srgbClr val="E6EEF5"/>
                    </a:solidFill>
                  </a:tcPr>
                </a:tc>
              </a:tr>
              <a:tr h="365760">
                <a:tc>
                  <a:txBody>
                    <a:bodyPr/>
                    <a:lstStyle/>
                    <a:p>
                      <a:pPr>
                        <a:defRPr sz="1000"/>
                      </a:pPr>
                      <a:r>
                        <a:t>1. Pregunta de Prueba</a:t>
                      </a:r>
                    </a:p>
                  </a:txBody>
                  <a:tcPr/>
                </a:tc>
                <a:tc>
                  <a:txBody>
                    <a:bodyPr/>
                    <a:lstStyle/>
                    <a:p>
                      <a:pPr>
                        <a:defRPr sz="1000"/>
                      </a:pPr>
                      <a:r>
                        <a:t>Top Opción</a:t>
                      </a:r>
                    </a:p>
                  </a:txBody>
                  <a:tcPr/>
                </a:tc>
                <a:tc>
                  <a:txBody>
                    <a:bodyPr/>
                    <a:lstStyle/>
                    <a:p>
                      <a:pPr>
                        <a:defRPr sz="1000" b="1"/>
                      </a:pPr>
                      <a:r>
                        <a:t>Opción Extremadam... (45%)</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7160" cy="6858000"/>
          </a:xfrm>
          <a:prstGeom prst="rect">
            <a:avLst/>
          </a:prstGeom>
          <a:solidFill>
            <a:srgbClr val="005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normAutofit/>
          </a:bodyPr>
          <a:lstStyle/>
          <a:p>
            <a:pPr>
              <a:defRPr sz="2400" b="1">
                <a:solidFill>
                  <a:srgbClr val="111827"/>
                </a:solidFill>
                <a:latin typeface="Segoe UI"/>
              </a:defRPr>
            </a:pPr>
            <a:r>
              <a:t>1. Pregunta de Prueba</a:t>
            </a:r>
          </a:p>
        </p:txBody>
      </p:sp>
      <p:sp>
        <p:nvSpPr>
          <p:cNvPr id="4" name="Rounded Rectangle 3"/>
          <p:cNvSpPr/>
          <p:nvPr/>
        </p:nvSpPr>
        <p:spPr>
          <a:xfrm>
            <a:off x="493776" y="1408176"/>
            <a:ext cx="3200400" cy="18288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3200400" cy="18288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2834640" cy="274320"/>
          </a:xfrm>
          <a:prstGeom prst="rect">
            <a:avLst/>
          </a:prstGeom>
          <a:noFill/>
        </p:spPr>
        <p:txBody>
          <a:bodyPr wrap="none">
            <a:spAutoFit/>
          </a:bodyPr>
          <a:lstStyle/>
          <a:p>
            <a:pPr>
              <a:defRPr sz="1000" b="1">
                <a:solidFill>
                  <a:srgbClr val="6B7280"/>
                </a:solidFill>
                <a:latin typeface="Segoe UI"/>
              </a:defRPr>
            </a:pPr>
            <a:r>
              <a:t>TOP OPCIÓN</a:t>
            </a:r>
          </a:p>
        </p:txBody>
      </p:sp>
      <p:sp>
        <p:nvSpPr>
          <p:cNvPr id="7" name="TextBox 6"/>
          <p:cNvSpPr txBox="1"/>
          <p:nvPr/>
        </p:nvSpPr>
        <p:spPr>
          <a:xfrm>
            <a:off x="640080" y="1783080"/>
            <a:ext cx="2834640" cy="731520"/>
          </a:xfrm>
          <a:prstGeom prst="rect">
            <a:avLst/>
          </a:prstGeom>
          <a:noFill/>
        </p:spPr>
        <p:txBody>
          <a:bodyPr wrap="square" anchor="t">
            <a:normAutofit/>
          </a:bodyPr>
          <a:lstStyle/>
          <a:p>
            <a:pPr>
              <a:defRPr sz="4000" b="1">
                <a:solidFill>
                  <a:srgbClr val="00509E"/>
                </a:solidFill>
                <a:latin typeface="Segoe UI"/>
              </a:defRPr>
            </a:pPr>
            <a:r>
              <a:t>Opción Extremadam... (45%)</a:t>
            </a:r>
          </a:p>
        </p:txBody>
      </p:sp>
      <p:sp>
        <p:nvSpPr>
          <p:cNvPr id="8" name="Rounded Rectangle 7"/>
          <p:cNvSpPr/>
          <p:nvPr/>
        </p:nvSpPr>
        <p:spPr>
          <a:xfrm>
            <a:off x="4151376" y="1408176"/>
            <a:ext cx="4572000" cy="3200400"/>
          </a:xfrm>
          <a:prstGeom prst="roundRect">
            <a:avLst/>
          </a:prstGeom>
          <a:solidFill>
            <a:srgbClr val="DC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0" y="1371600"/>
            <a:ext cx="4572000" cy="3200400"/>
          </a:xfrm>
          <a:prstGeom prst="roundRect">
            <a:avLst/>
          </a:prstGeom>
          <a:solidFill>
            <a:srgbClr val="FFFFFF"/>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4206240" y="1463040"/>
            <a:ext cx="4389120" cy="3017520"/>
          </a:xfrm>
          <a:prstGeom prst="rect">
            <a:avLst/>
          </a:prstGeom>
        </p:spPr>
      </p:pic>
      <p:sp>
        <p:nvSpPr>
          <p:cNvPr id="11" name="Rounded Rectangle 10"/>
          <p:cNvSpPr/>
          <p:nvPr/>
        </p:nvSpPr>
        <p:spPr>
          <a:xfrm>
            <a:off x="457200" y="4754880"/>
            <a:ext cx="8229600" cy="1463040"/>
          </a:xfrm>
          <a:prstGeom prst="roundRect">
            <a:avLst/>
          </a:prstGeom>
          <a:solidFill>
            <a:srgbClr val="F2F6FA"/>
          </a:solidFill>
          <a:ln w="12700">
            <a:solidFill>
              <a:srgbClr val="CCDC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92040"/>
            <a:ext cx="7863840" cy="274320"/>
          </a:xfrm>
          <a:prstGeom prst="rect">
            <a:avLst/>
          </a:prstGeom>
          <a:noFill/>
        </p:spPr>
        <p:txBody>
          <a:bodyPr wrap="none">
            <a:spAutoFit/>
          </a:bodyPr>
          <a:lstStyle/>
          <a:p>
            <a:pPr>
              <a:defRPr sz="900" b="1">
                <a:solidFill>
                  <a:srgbClr val="00509E"/>
                </a:solidFill>
                <a:latin typeface="Segoe UI"/>
              </a:defRPr>
            </a:pPr>
            <a:r>
              <a:t>ANALISIS INTELIGENTE</a:t>
            </a:r>
          </a:p>
        </p:txBody>
      </p:sp>
      <p:sp>
        <p:nvSpPr>
          <p:cNvPr id="13" name="TextBox 12"/>
          <p:cNvSpPr txBox="1"/>
          <p:nvPr/>
        </p:nvSpPr>
        <p:spPr>
          <a:xfrm>
            <a:off x="640080" y="5120640"/>
            <a:ext cx="7863840" cy="960120"/>
          </a:xfrm>
          <a:prstGeom prst="rect">
            <a:avLst/>
          </a:prstGeom>
          <a:noFill/>
        </p:spPr>
        <p:txBody>
          <a:bodyPr wrap="square">
            <a:normAutofit/>
          </a:bodyPr>
          <a:lstStyle/>
          <a:p>
            <a:pPr algn="just">
              <a:defRPr sz="1200" i="1">
                <a:solidFill>
                  <a:srgbClr val="111827"/>
                </a:solidFill>
                <a:latin typeface="Segoe UI"/>
              </a:defRPr>
            </a:pPr>
            <a:r>
              <a:t>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Lorem ipsum dolor sit amet, consectetur adipiscing elit.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