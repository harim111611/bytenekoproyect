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Segoe UI"/>
              </a:defRPr>
            </a:pPr>
            <a:r>
              <a:t>BYTENEKO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111827"/>
                </a:solidFill>
                <a:latin typeface="Segoe UI"/>
              </a:defRPr>
            </a:pPr>
            <a:r>
              <a:t>Encuesta de Satisfacción 2024 con un título extremadamente largo para probar el ajuste de texto en la portada del reporte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Segoe UI"/>
              </a:defRPr>
            </a:pPr>
            <a:r>
              <a:t>Generado por: Usuario del Sistema</a:t>
            </a:r>
            <a:br/>
            <a:r>
              <a:t>Fecha: 2026-01-15</a:t>
            </a:r>
            <a:br/>
            <a:r>
              <a:t>Período: 2024-01-01 - 2024-03-30</a:t>
            </a:r>
          </a:p>
        </p:txBody>
      </p:sp>
      <p:sp>
        <p:nvSpPr>
          <p:cNvPr id="6" name="Oval 5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Resumen Ejecutivo</a:t>
            </a:r>
          </a:p>
          <a:p>
            <a:pPr>
              <a:defRPr sz="1400">
                <a:solidFill>
                  <a:srgbClr val="6B7280"/>
                </a:solidFill>
                <a:latin typeface="Segoe UI"/>
              </a:defRPr>
            </a:pPr>
            <a:r>
              <a:t>Principales métricas y hallazgos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68249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TOTAL RESPUESTAS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68249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SCORE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8.7/10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11827"/>
                </a:solidFill>
              </a:defRPr>
            </a:pPr>
            <a:r>
              <a:t>Puntos de Atención:</a:t>
            </a:r>
          </a:p>
          <a:p>
            <a:pPr>
              <a:spcBef>
                <a:spcPts val="600"/>
              </a:spcBef>
              <a:defRPr sz="1200"/>
            </a:pPr>
            <a:r>
              <a:t>• [EXCELENTE] ¿Qué tan satisfecho estás con el servicio?</a:t>
            </a:r>
          </a:p>
          <a:p>
            <a:pPr>
              <a:spcBef>
                <a:spcPts val="600"/>
              </a:spcBef>
              <a:defRPr sz="1200"/>
            </a:pPr>
            <a:r>
              <a:t>• [CRITICO] Comentarios adicionales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Detalle de Resultados</a:t>
            </a:r>
          </a:p>
          <a:p>
            <a:pPr>
              <a:defRPr sz="1400">
                <a:solidFill>
                  <a:srgbClr val="6B7280"/>
                </a:solidFill>
                <a:latin typeface="Segoe UI"/>
              </a:defRPr>
            </a:pPr>
            <a:r>
              <a:t>Vista rápida por pregunta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7432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509E"/>
                          </a:solidFill>
                        </a:defRPr>
                      </a:pPr>
                      <a:r>
                        <a:t>Pregunta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509E"/>
                          </a:solidFill>
                        </a:defRPr>
                      </a:pPr>
                      <a:r>
                        <a:t>Métrica Clave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509E"/>
                          </a:solidFill>
                        </a:defRPr>
                      </a:pPr>
                      <a:r>
                        <a:t>Score/Valor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¿Qué tan satisfecho estás con el servicio?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8.5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¿Qué aspecto valorarías más?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Top Opción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Rapidez y eficien... (45%)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Comentarios adicionales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Respuesta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1. ¿Qué tan satisfecho estás con el servicio?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0817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PROMEDIO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8.5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0B981"/>
                </a:solidFill>
                <a:latin typeface="Segoe UI"/>
              </a:defRPr>
            </a:pPr>
            <a:r>
              <a:t>▲ 12.5% vs. periodo 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51376" y="1408176"/>
            <a:ext cx="4572000" cy="32004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457200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4389120" cy="30175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4846320"/>
            <a:ext cx="8229600" cy="1645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C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509E"/>
                </a:solidFill>
                <a:latin typeface="Segoe UI"/>
              </a:defRPr>
            </a:pPr>
            <a:r>
              <a:t>ANALISIS INTELIGENTE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7863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 i="1">
                <a:solidFill>
                  <a:srgbClr val="111827"/>
                </a:solidFill>
                <a:latin typeface="Segoe UI"/>
              </a:defRPr>
            </a:pPr>
            <a:r>
              <a:t>La satisfacción ha mejorado considerablemente respecto al Q3.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2. ¿Qué aspecto valorarías más?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0817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TOP OPCIÓN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Segoe UI"/>
              </a:defRPr>
            </a:pPr>
            <a:r>
              <a:t>Rapidez y eficien... (45%)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51376" y="1408176"/>
            <a:ext cx="4572000" cy="32004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1371600"/>
            <a:ext cx="457200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4389120" cy="3017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4846320"/>
            <a:ext cx="8229600" cy="1645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C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509E"/>
                </a:solidFill>
                <a:latin typeface="Segoe UI"/>
              </a:defRPr>
            </a:pPr>
            <a:r>
              <a:t>ANALISIS INTELIGENTE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7863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 i="1">
                <a:solidFill>
                  <a:srgbClr val="111827"/>
                </a:solidFill>
                <a:latin typeface="Segoe UI"/>
              </a:defRPr>
            </a:pPr>
            <a:r>
              <a:t>La rapidez es el factor clave para los usuarios.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3. Comentarios adicionales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0817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834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Pregunta abierta/cualitativa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51376" y="1408176"/>
            <a:ext cx="4572000" cy="32004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457200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8229600" cy="1645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C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509E"/>
                </a:solidFill>
                <a:latin typeface="Segoe UI"/>
              </a:defRPr>
            </a:pPr>
            <a:r>
              <a:t>ANALISIS INTELIGENTE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7863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 i="1">
                <a:solidFill>
                  <a:srgbClr val="111827"/>
                </a:solidFill>
                <a:latin typeface="Segoe UI"/>
              </a:defRPr>
            </a:pPr>
            <a:r>
              <a:t>Los usuarios piden más integraciones.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