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3200400" cy="457200"/>
          </a:xfrm>
          <a:prstGeom prst="rect">
            <a:avLst/>
          </a:prstGeom>
          <a:noFill/>
        </p:spPr>
        <p:txBody>
          <a:bodyPr wrap="square" anchor="t" lIns="27432" rIns="27432" tIns="27432" bIns="27432">
            <a:normAutofit/>
          </a:bodyPr>
          <a:lstStyle/>
          <a:p>
            <a:pPr>
              <a:defRPr b="1" sz="1400">
                <a:solidFill>
                  <a:srgbClr val="FFFFFF"/>
                </a:solidFill>
                <a:latin typeface="Segoe UI"/>
              </a:defRPr>
            </a:pPr>
            <a:r>
              <a:t>BYTENEKO SAAS</a:t>
            </a:r>
          </a:p>
        </p:txBody>
      </p:sp>
      <p:sp>
        <p:nvSpPr>
          <p:cNvPr id="4" name="TextBox 3"/>
          <p:cNvSpPr txBox="1"/>
          <p:nvPr/>
        </p:nvSpPr>
        <p:spPr>
          <a:xfrm>
            <a:off x="4572000" y="2286000"/>
            <a:ext cx="6400800" cy="1828800"/>
          </a:xfrm>
          <a:prstGeom prst="rect">
            <a:avLst/>
          </a:prstGeom>
          <a:noFill/>
        </p:spPr>
        <p:txBody>
          <a:bodyPr wrap="square" anchor="t" lIns="54864" rIns="54864" tIns="54864" bIns="54864">
            <a:normAutofit/>
          </a:bodyPr>
          <a:lstStyle/>
          <a:p>
            <a:pPr>
              <a:defRPr b="1" sz="4400">
                <a:solidFill>
                  <a:srgbClr val="111827"/>
                </a:solidFill>
                <a:latin typeface="Segoe UI"/>
              </a:defRPr>
            </a:pPr>
            <a:r>
              <a:t>gran_dataset_10k.csv</a:t>
            </a:r>
          </a:p>
        </p:txBody>
      </p:sp>
      <p:sp>
        <p:nvSpPr>
          <p:cNvPr id="5" name="TextBox 4"/>
          <p:cNvSpPr txBox="1"/>
          <p:nvPr/>
        </p:nvSpPr>
        <p:spPr>
          <a:xfrm>
            <a:off x="4572000" y="4572000"/>
            <a:ext cx="6400800" cy="1371600"/>
          </a:xfrm>
          <a:prstGeom prst="rect">
            <a:avLst/>
          </a:prstGeom>
          <a:noFill/>
        </p:spPr>
        <p:txBody>
          <a:bodyPr wrap="square" anchor="t" lIns="54864" rIns="54864" tIns="54864" bIns="54864">
            <a:normAutofit/>
          </a:bodyPr>
          <a:lstStyle/>
          <a:p>
            <a:pPr>
              <a:defRPr sz="1400">
                <a:solidFill>
                  <a:srgbClr val="6B7280"/>
                </a:solidFill>
                <a:latin typeface="Segoe UI"/>
              </a:defRPr>
            </a:pPr>
            <a:r>
              <a:t>Generado por: Usuario del Sistema</a:t>
            </a:r>
            <a:br/>
            <a:r>
              <a:t>Fecha: 2026-01-15</a:t>
            </a:r>
            <a:br/>
            <a:r>
              <a:t>Período: Todo el histórico</a:t>
            </a:r>
          </a:p>
        </p:txBody>
      </p:sp>
      <p:sp>
        <p:nvSpPr>
          <p:cNvPr id="6" name="Oval 5"/>
          <p:cNvSpPr/>
          <p:nvPr/>
        </p:nvSpPr>
        <p:spPr>
          <a:xfrm>
            <a:off x="-914400" y="5029200"/>
            <a:ext cx="2743200" cy="2743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Resumen Ejecutivo</a:t>
            </a:r>
          </a:p>
          <a:p>
            <a:pPr>
              <a:defRPr sz="1400">
                <a:solidFill>
                  <a:srgbClr val="6B7280"/>
                </a:solidFill>
                <a:latin typeface="Segoe UI"/>
              </a:defRPr>
            </a:pPr>
            <a:r>
              <a:t>Principales métricas y hallazgos</a:t>
            </a:r>
          </a:p>
        </p:txBody>
      </p:sp>
      <p:sp>
        <p:nvSpPr>
          <p:cNvPr id="5" name="Rounded Rectangle 4"/>
          <p:cNvSpPr/>
          <p:nvPr/>
        </p:nvSpPr>
        <p:spPr>
          <a:xfrm>
            <a:off x="76809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TOTAL RESPUESTAS</a:t>
            </a:r>
          </a:p>
        </p:txBody>
      </p:sp>
      <p:sp>
        <p:nvSpPr>
          <p:cNvPr id="8" name="TextBox 7"/>
          <p:cNvSpPr txBox="1"/>
          <p:nvPr/>
        </p:nvSpPr>
        <p:spPr>
          <a:xfrm>
            <a:off x="914400" y="205740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123</a:t>
            </a:r>
          </a:p>
        </p:txBody>
      </p:sp>
      <p:sp>
        <p:nvSpPr>
          <p:cNvPr id="9" name="Rounded Rectangle 8"/>
          <p:cNvSpPr/>
          <p:nvPr/>
        </p:nvSpPr>
        <p:spPr>
          <a:xfrm>
            <a:off x="433425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82880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SCORE GENERAL</a:t>
            </a:r>
          </a:p>
        </p:txBody>
      </p:sp>
      <p:sp>
        <p:nvSpPr>
          <p:cNvPr id="12" name="TextBox 11"/>
          <p:cNvSpPr txBox="1"/>
          <p:nvPr/>
        </p:nvSpPr>
        <p:spPr>
          <a:xfrm>
            <a:off x="4480560" y="205740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8.7/10</a:t>
            </a:r>
          </a:p>
        </p:txBody>
      </p:sp>
      <p:sp>
        <p:nvSpPr>
          <p:cNvPr id="13" name="TextBox 12"/>
          <p:cNvSpPr txBox="1"/>
          <p:nvPr/>
        </p:nvSpPr>
        <p:spPr>
          <a:xfrm>
            <a:off x="731520" y="3931920"/>
            <a:ext cx="10725912" cy="2743200"/>
          </a:xfrm>
          <a:prstGeom prst="rect">
            <a:avLst/>
          </a:prstGeom>
          <a:noFill/>
        </p:spPr>
        <p:txBody>
          <a:bodyPr wrap="square" anchor="t" lIns="54864" rIns="54864" tIns="54864" bIns="54864">
            <a:normAutofit/>
          </a:bodyPr>
          <a:lstStyle/>
          <a:p>
            <a:pPr>
              <a:defRPr b="1" sz="1400">
                <a:solidFill>
                  <a:srgbClr val="111827"/>
                </a:solidFill>
              </a:defRPr>
            </a:pPr>
            <a:r>
              <a:t>Puntos de Atención:</a:t>
            </a:r>
          </a:p>
          <a:p>
            <a:pPr>
              <a:spcBef>
                <a:spcPts val="600"/>
              </a:spcBef>
              <a:defRPr sz="1200"/>
            </a:pPr>
            <a:r>
              <a:t>• [CRITICO] Pregunta muy larga Pregunta muy larga Pregunta muy larga Pregunta muy larga Pregunta muy larga Pregunta muy larga Pregunta muy larga Pregunta muy larga Pregunta muy larga Pregunta muy larga Pregunta muy larga Pregunta...</a:t>
            </a:r>
          </a:p>
          <a:p>
            <a:pPr>
              <a:spcBef>
                <a:spcPts val="600"/>
              </a:spcBef>
              <a:defRPr sz="1200"/>
            </a:pPr>
            <a:r>
              <a:t>• [EXCELENTE] Otra pregunta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Detalle de Resultados</a:t>
            </a:r>
          </a:p>
          <a:p>
            <a:pPr>
              <a:defRPr sz="1400">
                <a:solidFill>
                  <a:srgbClr val="6B7280"/>
                </a:solidFill>
                <a:latin typeface="Segoe UI"/>
              </a:defRPr>
            </a:pPr>
            <a:r>
              <a:t>Vista rápida por pregunta</a:t>
            </a:r>
          </a:p>
        </p:txBody>
      </p:sp>
      <p:graphicFrame>
        <p:nvGraphicFramePr>
          <p:cNvPr id="4" name="Table 3"/>
          <p:cNvGraphicFramePr>
            <a:graphicFrameLocks noGrp="1"/>
          </p:cNvGraphicFramePr>
          <p:nvPr/>
        </p:nvGraphicFramePr>
        <p:xfrm>
          <a:off x="731520" y="1371600"/>
          <a:ext cx="10515600" cy="1097280"/>
        </p:xfrm>
        <a:graphic>
          <a:graphicData uri="http://schemas.openxmlformats.org/drawingml/2006/table">
            <a:tbl>
              <a:tblPr firstRow="1" bandRow="1">
                <a:tableStyleId>{5C22544A-7EE6-4342-B048-85BDC9FD1C3A}</a:tableStyleId>
              </a:tblPr>
              <a:tblGrid>
                <a:gridCol w="5943600"/>
                <a:gridCol w="2743200"/>
                <a:gridCol w="1828800"/>
              </a:tblGrid>
              <a:tr h="365760">
                <a:tc>
                  <a:txBody>
                    <a:bodyPr wrap="square" anchor="t" lIns="27432" rIns="27432" tIns="27432" bIns="27432">
                      <a:normAutofit/>
                    </a:bodyPr>
                    <a:lstStyle/>
                    <a:p>
                      <a:pPr>
                        <a:defRPr b="1" sz="1100">
                          <a:solidFill>
                            <a:srgbClr val="00509E"/>
                          </a:solidFill>
                        </a:defRPr>
                      </a:pPr>
                      <a:r>
                        <a:t>Pregunta</a:t>
                      </a:r>
                    </a:p>
                  </a:txBody>
                  <a:tcPr>
                    <a:solidFill>
                      <a:srgbClr val="E6EEF5"/>
                    </a:solidFill>
                  </a:tcPr>
                </a:tc>
                <a:tc>
                  <a:txBody>
                    <a:bodyPr wrap="square" anchor="t" lIns="27432" rIns="27432" tIns="27432" bIns="27432">
                      <a:normAutofit/>
                    </a:bodyPr>
                    <a:lstStyle/>
                    <a:p>
                      <a:pPr>
                        <a:defRPr b="1" sz="1100">
                          <a:solidFill>
                            <a:srgbClr val="00509E"/>
                          </a:solidFill>
                        </a:defRPr>
                      </a:pPr>
                      <a:r>
                        <a:t>Métrica Clave</a:t>
                      </a:r>
                    </a:p>
                  </a:txBody>
                  <a:tcPr>
                    <a:solidFill>
                      <a:srgbClr val="E6EEF5"/>
                    </a:solidFill>
                  </a:tcPr>
                </a:tc>
                <a:tc>
                  <a:txBody>
                    <a:bodyPr wrap="square" anchor="t" lIns="27432" rIns="27432" tIns="27432" bIns="27432">
                      <a:normAutofit/>
                    </a:bodyPr>
                    <a:lstStyle/>
                    <a:p>
                      <a:pPr>
                        <a:defRPr b="1" sz="1100">
                          <a:solidFill>
                            <a:srgbClr val="00509E"/>
                          </a:solidFill>
                        </a:defRPr>
                      </a:pPr>
                      <a:r>
                        <a:t>Score/Valor</a:t>
                      </a:r>
                    </a:p>
                  </a:txBody>
                  <a:tcPr>
                    <a:solidFill>
                      <a:srgbClr val="E6EEF5"/>
                    </a:solidFill>
                  </a:tcPr>
                </a:tc>
              </a:tr>
              <a:tr h="365760">
                <a:tc>
                  <a:txBody>
                    <a:bodyPr wrap="square" anchor="t" lIns="27432" rIns="27432" tIns="27432" bIns="27432">
                      <a:normAutofit/>
                    </a:bodyPr>
                    <a:lstStyle/>
                    <a:p>
                      <a:pPr>
                        <a:defRPr sz="1000"/>
                      </a:pPr>
                      <a:r>
                        <a:t>1. Pregunta muy larga Pregunta muy larga Pregunta muy larga Pregunta muy larga P...</a:t>
                      </a:r>
                    </a:p>
                  </a:txBody>
                  <a:tcPr/>
                </a:tc>
                <a:tc>
                  <a:txBody>
                    <a:bodyPr wrap="square" anchor="t" lIns="27432" rIns="27432" tIns="27432" bIns="27432">
                      <a:normAutofit/>
                    </a:bodyPr>
                    <a:lstStyle/>
                    <a:p>
                      <a:pPr>
                        <a:defRPr sz="1000"/>
                      </a:pPr>
                      <a:r>
                        <a:t>Top Opción</a:t>
                      </a:r>
                    </a:p>
                  </a:txBody>
                  <a:tcPr/>
                </a:tc>
                <a:tc>
                  <a:txBody>
                    <a:bodyPr wrap="square" anchor="t" lIns="27432" rIns="27432" tIns="27432" bIns="27432">
                      <a:normAutofit/>
                    </a:bodyPr>
                    <a:lstStyle/>
                    <a:p>
                      <a:pPr>
                        <a:defRPr sz="1000" b="1"/>
                      </a:pPr>
                      <a:r>
                        <a:t>Una_opcion_largui... (83%)</a:t>
                      </a:r>
                    </a:p>
                  </a:txBody>
                  <a:tcPr/>
                </a:tc>
              </a:tr>
              <a:tr h="365760">
                <a:tc>
                  <a:txBody>
                    <a:bodyPr wrap="square" anchor="t" lIns="27432" rIns="27432" tIns="27432" bIns="27432">
                      <a:normAutofit/>
                    </a:bodyPr>
                    <a:lstStyle/>
                    <a:p>
                      <a:pPr>
                        <a:defRPr sz="1000"/>
                      </a:pPr>
                      <a:r>
                        <a:t>2. Otra pregunta</a:t>
                      </a:r>
                    </a:p>
                  </a:txBody>
                  <a:tcPr/>
                </a:tc>
                <a:tc>
                  <a:txBody>
                    <a:bodyPr wrap="square" anchor="t" lIns="27432" rIns="27432" tIns="27432" bIns="27432">
                      <a:normAutofit/>
                    </a:bodyPr>
                    <a:lstStyle/>
                    <a:p>
                      <a:pPr>
                        <a:defRPr sz="1000"/>
                      </a:pPr>
                      <a:r>
                        <a:t>Promedio</a:t>
                      </a:r>
                    </a:p>
                  </a:txBody>
                  <a:tcPr/>
                </a:tc>
                <a:tc>
                  <a:txBody>
                    <a:bodyPr wrap="square" anchor="t" lIns="27432" rIns="27432" tIns="27432" bIns="27432">
                      <a:normAutofit/>
                    </a:bodyPr>
                    <a:lstStyle/>
                    <a:p>
                      <a:pPr>
                        <a:defRPr sz="1000" b="1"/>
                      </a:pPr>
                      <a:r>
                        <a:t>9.3</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1. Pregunta muy larga Pregunta muy larga Pregunta muy larga Pregunta muy larga Pregunta...</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Una_opcion_largui... (83%)</a:t>
            </a:r>
          </a:p>
        </p:txBody>
      </p:sp>
      <p:sp>
        <p:nvSpPr>
          <p:cNvPr id="8" name="Rounded Rectangle 7"/>
          <p:cNvSpPr/>
          <p:nvPr/>
        </p:nvSpPr>
        <p:spPr>
          <a:xfrm>
            <a:off x="4151376" y="1408176"/>
            <a:ext cx="7616952"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0" y="1371600"/>
            <a:ext cx="7616952"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754880"/>
            <a:ext cx="11274552"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892040"/>
            <a:ext cx="10908792" cy="274320"/>
          </a:xfrm>
          <a:prstGeom prst="rect">
            <a:avLst/>
          </a:prstGeom>
          <a:noFill/>
        </p:spPr>
        <p:txBody>
          <a:bodyPr wrap="square" anchor="t" lIns="27432" rIns="27432" tIns="27432" bIns="27432">
            <a:normAutofit/>
          </a:bodyPr>
          <a:lstStyle/>
          <a:p>
            <a:pPr>
              <a:defRPr sz="900" b="1">
                <a:solidFill>
                  <a:srgbClr val="00509E"/>
                </a:solidFill>
                <a:latin typeface="Segoe UI"/>
              </a:defRPr>
            </a:pPr>
            <a:r>
              <a:t>ANALISIS INTELIGENTE</a:t>
            </a:r>
          </a:p>
        </p:txBody>
      </p:sp>
      <p:sp>
        <p:nvSpPr>
          <p:cNvPr id="12" name="TextBox 11"/>
          <p:cNvSpPr txBox="1"/>
          <p:nvPr/>
        </p:nvSpPr>
        <p:spPr>
          <a:xfrm>
            <a:off x="640080" y="5120640"/>
            <a:ext cx="10908792" cy="960120"/>
          </a:xfrm>
          <a:prstGeom prst="rect">
            <a:avLst/>
          </a:prstGeom>
          <a:noFill/>
        </p:spPr>
        <p:txBody>
          <a:bodyPr wrap="square" anchor="t" lIns="54864" rIns="54864" tIns="54864" bIns="54864">
            <a:normAutofit/>
          </a:bodyPr>
          <a:lstStyle/>
          <a:p>
            <a:pPr algn="just">
              <a:defRPr sz="1200" i="1">
                <a:solidFill>
                  <a:srgbClr val="111827"/>
                </a:solidFill>
                <a:latin typeface="Segoe UI"/>
              </a:defRPr>
            </a:pPr>
            <a:r>
              <a:t>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Narrativa muy larga.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2. Otra pregunta</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9.3</a:t>
            </a:r>
          </a:p>
        </p:txBody>
      </p:sp>
      <p:sp>
        <p:nvSpPr>
          <p:cNvPr id="8" name="TextBox 7"/>
          <p:cNvSpPr txBox="1"/>
          <p:nvPr/>
        </p:nvSpPr>
        <p:spPr>
          <a:xfrm>
            <a:off x="640080" y="2423160"/>
            <a:ext cx="2834640" cy="274320"/>
          </a:xfrm>
          <a:prstGeom prst="rect">
            <a:avLst/>
          </a:prstGeom>
          <a:noFill/>
        </p:spPr>
        <p:txBody>
          <a:bodyPr wrap="square" anchor="t" lIns="27432" rIns="27432" tIns="27432" bIns="27432">
            <a:normAutofit/>
          </a:bodyPr>
          <a:lstStyle/>
          <a:p>
            <a:pPr>
              <a:defRPr sz="1100">
                <a:solidFill>
                  <a:srgbClr val="10B981"/>
                </a:solidFill>
                <a:latin typeface="Segoe UI"/>
              </a:defRPr>
            </a:pPr>
            <a:r>
              <a:t>▲ 3.2% vs. periodo ant.</a:t>
            </a:r>
          </a:p>
        </p:txBody>
      </p:sp>
      <p:sp>
        <p:nvSpPr>
          <p:cNvPr id="9" name="Rounded Rectangle 8"/>
          <p:cNvSpPr/>
          <p:nvPr/>
        </p:nvSpPr>
        <p:spPr>
          <a:xfrm>
            <a:off x="4151376" y="1408176"/>
            <a:ext cx="7616952"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7616952"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7434072" cy="3017520"/>
          </a:xfrm>
          <a:prstGeom prst="rect">
            <a:avLst/>
          </a:prstGeom>
        </p:spPr>
      </p:pic>
      <p:sp>
        <p:nvSpPr>
          <p:cNvPr id="12" name="Rounded Rectangle 11"/>
          <p:cNvSpPr/>
          <p:nvPr/>
        </p:nvSpPr>
        <p:spPr>
          <a:xfrm>
            <a:off x="457200" y="4754880"/>
            <a:ext cx="11274552"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10908792" cy="274320"/>
          </a:xfrm>
          <a:prstGeom prst="rect">
            <a:avLst/>
          </a:prstGeom>
          <a:noFill/>
        </p:spPr>
        <p:txBody>
          <a:bodyPr wrap="square" anchor="t" lIns="27432" rIns="27432" tIns="27432" bIns="27432">
            <a:norm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10908792" cy="960120"/>
          </a:xfrm>
          <a:prstGeom prst="rect">
            <a:avLst/>
          </a:prstGeom>
          <a:noFill/>
        </p:spPr>
        <p:txBody>
          <a:bodyPr wrap="square" anchor="t" lIns="54864" rIns="54864" tIns="54864" bIns="54864">
            <a:normAutofit/>
          </a:bodyPr>
          <a:lstStyle/>
          <a:p>
            <a:pPr algn="just">
              <a:defRPr sz="1200" i="1">
                <a:solidFill>
                  <a:srgbClr val="111827"/>
                </a:solidFill>
                <a:latin typeface="Segoe UI"/>
              </a:defRPr>
            </a:pPr>
            <a:r>
              <a:t>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