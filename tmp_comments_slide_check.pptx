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32004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rmAutofit/>
          </a:bodyPr>
          <a:lstStyle/>
          <a:p>
            <a:pPr>
              <a:defRPr b="1" sz="1400">
                <a:solidFill>
                  <a:srgbClr val="FFFFFF"/>
                </a:solidFill>
                <a:latin typeface="Segoe UI"/>
              </a:defRPr>
            </a:pPr>
            <a:r>
              <a:t>BYTENEKO SAAS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6400800" cy="18288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>
              <a:defRPr b="1" sz="4400">
                <a:solidFill>
                  <a:srgbClr val="111827"/>
                </a:solidFill>
                <a:latin typeface="Segoe UI"/>
              </a:defRPr>
            </a:pPr>
            <a:r>
              <a:t>PPTX Comentarios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4572000"/>
            <a:ext cx="6400800" cy="13716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Generado por: Usuario del Sistema</a:t>
            </a:r>
            <a:br/>
            <a:r>
              <a:t>Fecha: 2026-01-15</a:t>
            </a:r>
            <a:br/>
            <a:r>
              <a:t>Período: Todo el histórico</a:t>
            </a:r>
          </a:p>
        </p:txBody>
      </p:sp>
      <p:sp>
        <p:nvSpPr>
          <p:cNvPr id="6" name="Oval 5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Resumen Ejecutivo</a:t>
            </a:r>
          </a:p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Principales métricas y hallazgos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" y="168249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83464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rm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TOTAL RESPUESTAS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2834640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8249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283464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rm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SCORE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57400"/>
            <a:ext cx="2834640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0.0/10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Detalle de Resultados</a:t>
            </a:r>
          </a:p>
          <a:p>
            <a:pPr>
              <a:defRPr sz="1400">
                <a:solidFill>
                  <a:srgbClr val="6B7280"/>
                </a:solidFill>
                <a:latin typeface="Segoe UI"/>
              </a:defRPr>
            </a:pPr>
            <a:r>
              <a:t>Vista rápida por pregunta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515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2743200"/>
                <a:gridCol w="1828800"/>
              </a:tblGrid>
              <a:tr h="365760">
                <a:tc>
                  <a:txBody>
                    <a:bodyPr wrap="square" anchor="t" lIns="27432" rIns="27432" tIns="27432" bIns="27432">
                      <a:normAutofit/>
                    </a:bodyPr>
                    <a:lstStyle/>
                    <a:p>
                      <a:pPr>
                        <a:defRPr b="1" sz="1100">
                          <a:solidFill>
                            <a:srgbClr val="00509E"/>
                          </a:solidFill>
                        </a:defRPr>
                      </a:pPr>
                      <a:r>
                        <a:t>Pregunta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 wrap="square" anchor="t" lIns="27432" rIns="27432" tIns="27432" bIns="27432">
                      <a:normAutofit/>
                    </a:bodyPr>
                    <a:lstStyle/>
                    <a:p>
                      <a:pPr>
                        <a:defRPr b="1" sz="1100">
                          <a:solidFill>
                            <a:srgbClr val="00509E"/>
                          </a:solidFill>
                        </a:defRPr>
                      </a:pPr>
                      <a:r>
                        <a:t>Métrica Clave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  <a:tc>
                  <a:txBody>
                    <a:bodyPr wrap="square" anchor="t" lIns="27432" rIns="27432" tIns="27432" bIns="27432">
                      <a:normAutofit/>
                    </a:bodyPr>
                    <a:lstStyle/>
                    <a:p>
                      <a:pPr>
                        <a:defRPr b="1" sz="1100">
                          <a:solidFill>
                            <a:srgbClr val="00509E"/>
                          </a:solidFill>
                        </a:defRPr>
                      </a:pPr>
                      <a:r>
                        <a:t>Score/Valor</a:t>
                      </a:r>
                    </a:p>
                  </a:txBody>
                  <a:tcPr>
                    <a:solidFill>
                      <a:srgbClr val="E6EEF5"/>
                    </a:solidFill>
                  </a:tcPr>
                </a:tc>
              </a:tr>
              <a:tr h="365760">
                <a:tc>
                  <a:txBody>
                    <a:bodyPr wrap="square" anchor="t" lIns="27432" rIns="27432" tIns="27432" bIns="27432">
                      <a:normAutofit/>
                    </a:bodyPr>
                    <a:lstStyle/>
                    <a:p>
                      <a:pPr>
                        <a:defRPr sz="1000"/>
                      </a:pPr>
                      <a:r>
                        <a:t>6. Comentarios</a:t>
                      </a:r>
                    </a:p>
                  </a:txBody>
                  <a:tcPr/>
                </a:tc>
                <a:tc>
                  <a:txBody>
                    <a:bodyPr wrap="square" anchor="t" lIns="27432" rIns="27432" tIns="27432" bIns="27432">
                      <a:normAutofit/>
                    </a:bodyPr>
                    <a:lstStyle/>
                    <a:p>
                      <a:pPr>
                        <a:defRPr sz="1000"/>
                      </a:pPr>
                      <a:r>
                        <a:t>Comentarios</a:t>
                      </a:r>
                    </a:p>
                  </a:txBody>
                  <a:tcPr/>
                </a:tc>
                <a:tc>
                  <a:txBody>
                    <a:bodyPr wrap="square" anchor="t" lIns="27432" rIns="27432" tIns="27432" bIns="27432">
                      <a:normAutofit/>
                    </a:bodyPr>
                    <a:lstStyle/>
                    <a:p>
                      <a:pPr>
                        <a:defRPr sz="1000" b="1"/>
                      </a:pPr>
                      <a:r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>
              <a:defRPr sz="2400" b="1">
                <a:solidFill>
                  <a:srgbClr val="111827"/>
                </a:solidFill>
                <a:latin typeface="Segoe UI"/>
              </a:defRPr>
            </a:pPr>
            <a:r>
              <a:t>6. Comentarios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" y="1408176"/>
            <a:ext cx="3200400" cy="18288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834640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rm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TOTAL COMENTARIOS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2834640" cy="7315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>
              <a:defRPr sz="4000" b="1">
                <a:solidFill>
                  <a:srgbClr val="00509E"/>
                </a:solidFill>
                <a:latin typeface="Segoe UI"/>
              </a:defRPr>
            </a:pPr>
            <a: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2834640" cy="64008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>
              <a:defRPr sz="1000" b="1">
                <a:solidFill>
                  <a:srgbClr val="6B7280"/>
                </a:solidFill>
                <a:latin typeface="Segoe UI"/>
              </a:defRPr>
            </a:pPr>
            <a:r>
              <a:t>Temas principales</a:t>
            </a:r>
          </a:p>
          <a:p>
            <a:pPr>
              <a:defRPr sz="1100">
                <a:solidFill>
                  <a:srgbClr val="111827"/>
                </a:solidFill>
                <a:latin typeface="Segoe UI"/>
              </a:defRPr>
            </a:pPr>
            <a:r>
              <a:t>precio, soporte, tiempos de espera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51376" y="1408176"/>
            <a:ext cx="7616952" cy="3200400"/>
          </a:xfrm>
          <a:prstGeom prst="roundRect">
            <a:avLst/>
          </a:prstGeom>
          <a:solidFill>
            <a:srgbClr val="DCD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1371600"/>
            <a:ext cx="7616952" cy="3200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554480"/>
            <a:ext cx="7159752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rmAutofit/>
          </a:bodyPr>
          <a:lstStyle/>
          <a:p>
            <a:pPr>
              <a:defRPr sz="1200" b="1">
                <a:solidFill>
                  <a:srgbClr val="111827"/>
                </a:solidFill>
                <a:latin typeface="Segoe UI"/>
              </a:defRPr>
            </a:pPr>
            <a:r>
              <a:t>Comentarios destacados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1920240"/>
            <a:ext cx="7159752" cy="242316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  <a:latin typeface="Segoe UI"/>
              </a:defRPr>
            </a:pPr>
            <a:r>
              <a:t>• Precio justo -​ ID:​117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  <a:latin typeface="Segoe UI"/>
              </a:defRPr>
            </a:pPr>
            <a:r>
              <a:t>• Muy buena atención,​ pero la app se cae a veces cuando el wifi es malo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  <a:latin typeface="Segoe UI"/>
              </a:defRPr>
            </a:pPr>
            <a:r>
              <a:t>• Me gustaría más opciones de pago y que el proceso sea más rápido en horas punta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  <a:latin typeface="Segoe UI"/>
              </a:defRPr>
            </a:pPr>
            <a:r>
              <a:t>• El personal fue amable y resolvió mi problema sin vueltas</a:t>
            </a:r>
          </a:p>
          <a:p>
            <a:pPr>
              <a:spcBef>
                <a:spcPts val="400"/>
              </a:spcBef>
              <a:defRPr sz="1200">
                <a:solidFill>
                  <a:srgbClr val="111827"/>
                </a:solidFill>
                <a:latin typeface="Segoe UI"/>
              </a:defRPr>
            </a:pPr>
            <a:r>
              <a:t>• El precio está bien,​ pero podrían mejorar los tiempos de espera en soporte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54880"/>
            <a:ext cx="11274552" cy="1463040"/>
          </a:xfrm>
          <a:prstGeom prst="roundRect">
            <a:avLst/>
          </a:prstGeom>
          <a:solidFill>
            <a:srgbClr val="F2F6FA"/>
          </a:solidFill>
          <a:ln w="12700">
            <a:solidFill>
              <a:srgbClr val="CCD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892040"/>
            <a:ext cx="10908792" cy="2743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normAutofit/>
          </a:bodyPr>
          <a:lstStyle/>
          <a:p>
            <a:pPr>
              <a:defRPr sz="900" b="1">
                <a:solidFill>
                  <a:srgbClr val="00509E"/>
                </a:solidFill>
                <a:latin typeface="Segoe UI"/>
              </a:defRPr>
            </a:pPr>
            <a:r>
              <a:t>ANALISIS INTELIGENTE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120640"/>
            <a:ext cx="10908792" cy="9601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normAutofit/>
          </a:bodyPr>
          <a:lstStyle/>
          <a:p>
            <a:pPr algn="just">
              <a:defRPr sz="1200" i="1">
                <a:solidFill>
                  <a:srgbClr val="111827"/>
                </a:solidFill>
                <a:latin typeface="Segoe UI"/>
              </a:defRPr>
            </a:pPr>
            <a:r>
              <a:t>Se han analizado en profundidad 200 comentarios. El tema predominante en la conversación es **precio**. Hay que mantener este rumbo.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