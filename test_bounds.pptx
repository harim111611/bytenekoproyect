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114800" cy="6858000"/>
          </a:xfrm>
          <a:prstGeom prst="rect">
            <a:avLst/>
          </a:prstGeom>
          <a:solidFill>
            <a:srgbClr val="0050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3200400" cy="457200"/>
          </a:xfrm>
          <a:prstGeom prst="rect">
            <a:avLst/>
          </a:prstGeom>
          <a:noFill/>
        </p:spPr>
        <p:txBody>
          <a:bodyPr wrap="none">
            <a:spAutoFit/>
          </a:bodyPr>
          <a:lstStyle/>
          <a:p>
            <a:pPr>
              <a:defRPr b="1" sz="1400">
                <a:solidFill>
                  <a:srgbClr val="FFFFFF"/>
                </a:solidFill>
                <a:latin typeface="Segoe UI"/>
              </a:defRPr>
            </a:pPr>
            <a:r>
              <a:t>BYTENEKO SAAS</a:t>
            </a:r>
          </a:p>
        </p:txBody>
      </p:sp>
      <p:sp>
        <p:nvSpPr>
          <p:cNvPr id="4" name="TextBox 3"/>
          <p:cNvSpPr txBox="1"/>
          <p:nvPr/>
        </p:nvSpPr>
        <p:spPr>
          <a:xfrm>
            <a:off x="4572000" y="2286000"/>
            <a:ext cx="6400800" cy="1828800"/>
          </a:xfrm>
          <a:prstGeom prst="rect">
            <a:avLst/>
          </a:prstGeom>
          <a:noFill/>
        </p:spPr>
        <p:txBody>
          <a:bodyPr wrap="square">
            <a:spAutoFit/>
          </a:bodyPr>
          <a:lstStyle/>
          <a:p>
            <a:pPr>
              <a:defRPr b="1" sz="3600">
                <a:solidFill>
                  <a:srgbClr val="111827"/>
                </a:solidFill>
                <a:latin typeface="Segoe UI"/>
              </a:defRPr>
            </a:pPr>
            <a:r>
              <a:t>Encuesta de Satisfacción Q1 2024</a:t>
            </a:r>
          </a:p>
        </p:txBody>
      </p:sp>
      <p:sp>
        <p:nvSpPr>
          <p:cNvPr id="5" name="TextBox 4"/>
          <p:cNvSpPr txBox="1"/>
          <p:nvPr/>
        </p:nvSpPr>
        <p:spPr>
          <a:xfrm>
            <a:off x="4572000" y="4572000"/>
            <a:ext cx="6400800" cy="1371600"/>
          </a:xfrm>
          <a:prstGeom prst="rect">
            <a:avLst/>
          </a:prstGeom>
          <a:noFill/>
        </p:spPr>
        <p:txBody>
          <a:bodyPr wrap="none">
            <a:spAutoFit/>
          </a:bodyPr>
          <a:lstStyle/>
          <a:p>
            <a:pPr>
              <a:defRPr sz="1400">
                <a:solidFill>
                  <a:srgbClr val="6B7280"/>
                </a:solidFill>
                <a:latin typeface="Segoe UI"/>
              </a:defRPr>
            </a:pPr>
            <a:r>
              <a:t>Generado por: María González</a:t>
            </a:r>
            <a:br/>
            <a:r>
              <a:t>Fecha: 2026-01-15</a:t>
            </a:r>
            <a:br/>
            <a:r>
              <a:t>Período: 2024-01-01 - 2024-03-31</a:t>
            </a:r>
          </a:p>
        </p:txBody>
      </p:sp>
      <p:sp>
        <p:nvSpPr>
          <p:cNvPr id="6" name="Oval 5"/>
          <p:cNvSpPr/>
          <p:nvPr/>
        </p:nvSpPr>
        <p:spPr>
          <a:xfrm>
            <a:off x="-914400" y="5029200"/>
            <a:ext cx="2743200" cy="27432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37160" cy="6858000"/>
          </a:xfrm>
          <a:prstGeom prst="rect">
            <a:avLst/>
          </a:prstGeom>
          <a:solidFill>
            <a:srgbClr val="0050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65760"/>
            <a:ext cx="8229600" cy="731520"/>
          </a:xfrm>
          <a:prstGeom prst="rect">
            <a:avLst/>
          </a:prstGeom>
          <a:noFill/>
        </p:spPr>
        <p:txBody>
          <a:bodyPr wrap="square">
            <a:spAutoFit/>
          </a:bodyPr>
          <a:lstStyle/>
          <a:p>
            <a:pPr>
              <a:defRPr sz="2400" b="1">
                <a:solidFill>
                  <a:srgbClr val="111827"/>
                </a:solidFill>
                <a:latin typeface="Segoe UI"/>
              </a:defRPr>
            </a:pPr>
            <a:r>
              <a:t>Resumen Ejecutivo</a:t>
            </a:r>
          </a:p>
          <a:p>
            <a:pPr>
              <a:defRPr sz="1400">
                <a:solidFill>
                  <a:srgbClr val="6B7280"/>
                </a:solidFill>
                <a:latin typeface="Segoe UI"/>
              </a:defRPr>
            </a:pPr>
            <a:r>
              <a:t>Principales métricas y hallazgos</a:t>
            </a:r>
          </a:p>
        </p:txBody>
      </p:sp>
      <p:sp>
        <p:nvSpPr>
          <p:cNvPr id="5" name="Rounded Rectangle 4"/>
          <p:cNvSpPr/>
          <p:nvPr/>
        </p:nvSpPr>
        <p:spPr>
          <a:xfrm>
            <a:off x="768096" y="1682496"/>
            <a:ext cx="3200400" cy="1828800"/>
          </a:xfrm>
          <a:prstGeom prst="roundRect">
            <a:avLst/>
          </a:prstGeom>
          <a:solidFill>
            <a:srgbClr val="DCDC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3200400" cy="1828800"/>
          </a:xfrm>
          <a:prstGeom prst="roundRect">
            <a:avLst/>
          </a:prstGeom>
          <a:solidFill>
            <a:srgbClr val="FFFFFF"/>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28800"/>
            <a:ext cx="2834640" cy="274320"/>
          </a:xfrm>
          <a:prstGeom prst="rect">
            <a:avLst/>
          </a:prstGeom>
          <a:noFill/>
        </p:spPr>
        <p:txBody>
          <a:bodyPr wrap="none">
            <a:spAutoFit/>
          </a:bodyPr>
          <a:lstStyle/>
          <a:p>
            <a:pPr>
              <a:defRPr sz="1000" b="1">
                <a:solidFill>
                  <a:srgbClr val="6B7280"/>
                </a:solidFill>
                <a:latin typeface="Segoe UI"/>
              </a:defRPr>
            </a:pPr>
            <a:r>
              <a:t>TOTAL RESPUESTAS</a:t>
            </a:r>
          </a:p>
        </p:txBody>
      </p:sp>
      <p:sp>
        <p:nvSpPr>
          <p:cNvPr id="8" name="TextBox 7"/>
          <p:cNvSpPr txBox="1"/>
          <p:nvPr/>
        </p:nvSpPr>
        <p:spPr>
          <a:xfrm>
            <a:off x="914400" y="2057400"/>
            <a:ext cx="2834640" cy="731520"/>
          </a:xfrm>
          <a:prstGeom prst="rect">
            <a:avLst/>
          </a:prstGeom>
          <a:noFill/>
        </p:spPr>
        <p:txBody>
          <a:bodyPr wrap="square" anchor="t">
            <a:spAutoFit/>
          </a:bodyPr>
          <a:lstStyle/>
          <a:p>
            <a:pPr>
              <a:defRPr sz="4000" b="1">
                <a:solidFill>
                  <a:srgbClr val="00509E"/>
                </a:solidFill>
                <a:latin typeface="Segoe UI"/>
              </a:defRPr>
            </a:pPr>
            <a:r>
              <a:t>250</a:t>
            </a:r>
          </a:p>
        </p:txBody>
      </p:sp>
      <p:sp>
        <p:nvSpPr>
          <p:cNvPr id="9" name="Rounded Rectangle 8"/>
          <p:cNvSpPr/>
          <p:nvPr/>
        </p:nvSpPr>
        <p:spPr>
          <a:xfrm>
            <a:off x="4334256" y="1682496"/>
            <a:ext cx="3200400" cy="1828800"/>
          </a:xfrm>
          <a:prstGeom prst="roundRect">
            <a:avLst/>
          </a:prstGeom>
          <a:solidFill>
            <a:srgbClr val="DCDC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297680" y="1645920"/>
            <a:ext cx="3200400" cy="1828800"/>
          </a:xfrm>
          <a:prstGeom prst="roundRect">
            <a:avLst/>
          </a:prstGeom>
          <a:solidFill>
            <a:srgbClr val="FFFFFF"/>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0560" y="1828800"/>
            <a:ext cx="2834640" cy="274320"/>
          </a:xfrm>
          <a:prstGeom prst="rect">
            <a:avLst/>
          </a:prstGeom>
          <a:noFill/>
        </p:spPr>
        <p:txBody>
          <a:bodyPr wrap="none">
            <a:spAutoFit/>
          </a:bodyPr>
          <a:lstStyle/>
          <a:p>
            <a:pPr>
              <a:defRPr sz="1000" b="1">
                <a:solidFill>
                  <a:srgbClr val="6B7280"/>
                </a:solidFill>
                <a:latin typeface="Segoe UI"/>
              </a:defRPr>
            </a:pPr>
            <a:r>
              <a:t>SCORE GENERAL</a:t>
            </a:r>
          </a:p>
        </p:txBody>
      </p:sp>
      <p:sp>
        <p:nvSpPr>
          <p:cNvPr id="12" name="TextBox 11"/>
          <p:cNvSpPr txBox="1"/>
          <p:nvPr/>
        </p:nvSpPr>
        <p:spPr>
          <a:xfrm>
            <a:off x="4480560" y="2057400"/>
            <a:ext cx="2834640" cy="731520"/>
          </a:xfrm>
          <a:prstGeom prst="rect">
            <a:avLst/>
          </a:prstGeom>
          <a:noFill/>
        </p:spPr>
        <p:txBody>
          <a:bodyPr wrap="square" anchor="t">
            <a:spAutoFit/>
          </a:bodyPr>
          <a:lstStyle/>
          <a:p>
            <a:pPr>
              <a:defRPr sz="4000" b="1">
                <a:solidFill>
                  <a:srgbClr val="00509E"/>
                </a:solidFill>
                <a:latin typeface="Segoe UI"/>
              </a:defRPr>
            </a:pPr>
            <a:r>
              <a:t>8.2/10</a:t>
            </a:r>
          </a:p>
        </p:txBody>
      </p:sp>
      <p:sp>
        <p:nvSpPr>
          <p:cNvPr id="13" name="TextBox 12"/>
          <p:cNvSpPr txBox="1"/>
          <p:nvPr/>
        </p:nvSpPr>
        <p:spPr>
          <a:xfrm>
            <a:off x="731520" y="3931920"/>
            <a:ext cx="7680960" cy="2743200"/>
          </a:xfrm>
          <a:prstGeom prst="rect">
            <a:avLst/>
          </a:prstGeom>
          <a:noFill/>
        </p:spPr>
        <p:txBody>
          <a:bodyPr wrap="square">
            <a:spAutoFit/>
          </a:bodyPr>
          <a:lstStyle/>
          <a:p>
            <a:pPr>
              <a:defRPr b="1" sz="1400">
                <a:solidFill>
                  <a:srgbClr val="111827"/>
                </a:solidFill>
              </a:defRPr>
            </a:pPr>
            <a:r>
              <a:t>Puntos de Atención:</a:t>
            </a:r>
          </a:p>
          <a:p>
            <a:pPr>
              <a:spcBef>
                <a:spcPts val="600"/>
              </a:spcBef>
              <a:defRPr sz="1200"/>
            </a:pPr>
            <a:r>
              <a:t>• [EXCELENTE] Pregunta 4: ¿Qué opinas sobre el aspecto #4 del servicio prestado?</a:t>
            </a:r>
          </a:p>
          <a:p>
            <a:pPr>
              <a:spcBef>
                <a:spcPts val="600"/>
              </a:spcBef>
              <a:defRPr sz="1200"/>
            </a:pPr>
            <a:r>
              <a:t>• [EXCELENTE] Pregunta 8: ¿Qué opinas sobre el aspecto #8 del servicio prestado?</a:t>
            </a:r>
          </a:p>
          <a:p>
            <a:pPr>
              <a:spcBef>
                <a:spcPts val="600"/>
              </a:spcBef>
              <a:defRPr sz="1200"/>
            </a:pPr>
            <a:r>
              <a:t>• [EXCELENTE] Pregunta 12: ¿Qué opinas sobre el aspecto #12 del servicio prestado?</a:t>
            </a:r>
          </a:p>
          <a:p>
            <a:pPr>
              <a:spcBef>
                <a:spcPts val="600"/>
              </a:spcBef>
              <a:defRPr sz="1200"/>
            </a:pPr>
            <a:r>
              <a:t>• [EXCELENTE] Pregunta 16: ¿Qué opinas sobre el aspecto #16 del servicio prestado?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37160" cy="6858000"/>
          </a:xfrm>
          <a:prstGeom prst="rect">
            <a:avLst/>
          </a:prstGeom>
          <a:solidFill>
            <a:srgbClr val="0050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400" b="1">
                <a:solidFill>
                  <a:srgbClr val="111827"/>
                </a:solidFill>
                <a:latin typeface="Segoe UI"/>
              </a:defRPr>
            </a:pPr>
            <a:r>
              <a:t>Detalle de Resultados</a:t>
            </a:r>
          </a:p>
          <a:p>
            <a:pPr>
              <a:defRPr sz="1400">
                <a:solidFill>
                  <a:srgbClr val="6B7280"/>
                </a:solidFill>
                <a:latin typeface="Segoe UI"/>
              </a:defRPr>
            </a:pPr>
            <a:r>
              <a:t>Vista rápida por pregunta</a:t>
            </a:r>
          </a:p>
        </p:txBody>
      </p:sp>
      <p:graphicFrame>
        <p:nvGraphicFramePr>
          <p:cNvPr id="4" name="Table 3"/>
          <p:cNvGraphicFramePr>
            <a:graphicFrameLocks noGrp="1"/>
          </p:cNvGraphicFramePr>
          <p:nvPr/>
        </p:nvGraphicFramePr>
        <p:xfrm>
          <a:off x="731520" y="1371600"/>
          <a:ext cx="10515600" cy="4754880"/>
        </p:xfrm>
        <a:graphic>
          <a:graphicData uri="http://schemas.openxmlformats.org/drawingml/2006/table">
            <a:tbl>
              <a:tblPr firstRow="1" bandRow="1">
                <a:tableStyleId>{5C22544A-7EE6-4342-B048-85BDC9FD1C3A}</a:tableStyleId>
              </a:tblPr>
              <a:tblGrid>
                <a:gridCol w="5943600"/>
                <a:gridCol w="2743200"/>
                <a:gridCol w="1828800"/>
              </a:tblGrid>
              <a:tr h="365760">
                <a:tc>
                  <a:txBody>
                    <a:bodyPr/>
                    <a:lstStyle/>
                    <a:p>
                      <a:pPr>
                        <a:defRPr b="1" sz="1100">
                          <a:solidFill>
                            <a:srgbClr val="00509E"/>
                          </a:solidFill>
                        </a:defRPr>
                      </a:pPr>
                      <a:r>
                        <a:t>Pregunta</a:t>
                      </a:r>
                    </a:p>
                  </a:txBody>
                  <a:tcPr>
                    <a:solidFill>
                      <a:srgbClr val="E6EEF5"/>
                    </a:solidFill>
                  </a:tcPr>
                </a:tc>
                <a:tc>
                  <a:txBody>
                    <a:bodyPr/>
                    <a:lstStyle/>
                    <a:p>
                      <a:pPr>
                        <a:defRPr b="1" sz="1100">
                          <a:solidFill>
                            <a:srgbClr val="00509E"/>
                          </a:solidFill>
                        </a:defRPr>
                      </a:pPr>
                      <a:r>
                        <a:t>Métrica Clave</a:t>
                      </a:r>
                    </a:p>
                  </a:txBody>
                  <a:tcPr>
                    <a:solidFill>
                      <a:srgbClr val="E6EEF5"/>
                    </a:solidFill>
                  </a:tcPr>
                </a:tc>
                <a:tc>
                  <a:txBody>
                    <a:bodyPr/>
                    <a:lstStyle/>
                    <a:p>
                      <a:pPr>
                        <a:defRPr b="1" sz="1100">
                          <a:solidFill>
                            <a:srgbClr val="00509E"/>
                          </a:solidFill>
                        </a:defRPr>
                      </a:pPr>
                      <a:r>
                        <a:t>Score/Valor</a:t>
                      </a:r>
                    </a:p>
                  </a:txBody>
                  <a:tcPr>
                    <a:solidFill>
                      <a:srgbClr val="E6EEF5"/>
                    </a:solidFill>
                  </a:tcPr>
                </a:tc>
              </a:tr>
              <a:tr h="365760">
                <a:tc>
                  <a:txBody>
                    <a:bodyPr/>
                    <a:lstStyle/>
                    <a:p>
                      <a:pPr>
                        <a:defRPr sz="1000"/>
                      </a:pPr>
                      <a:r>
                        <a:t>1. Pregunta 1: ¿Qué opinas sobre el aspecto #1 del servicio prestado?</a:t>
                      </a:r>
                    </a:p>
                  </a:txBody>
                  <a:tcPr/>
                </a:tc>
                <a:tc>
                  <a:txBody>
                    <a:bodyPr/>
                    <a:lstStyle/>
                    <a:p>
                      <a:pPr>
                        <a:defRPr sz="1000"/>
                      </a:pPr>
                      <a:r>
                        <a:t>Top Opción</a:t>
                      </a:r>
                    </a:p>
                  </a:txBody>
                  <a:tcPr/>
                </a:tc>
                <a:tc>
                  <a:txBody>
                    <a:bodyPr/>
                    <a:lstStyle/>
                    <a:p>
                      <a:pPr>
                        <a:defRPr sz="1000" b="1"/>
                      </a:pPr>
                      <a:r>
                        <a:t>Opción favorita 1 (46%)</a:t>
                      </a:r>
                    </a:p>
                  </a:txBody>
                  <a:tcPr/>
                </a:tc>
              </a:tr>
              <a:tr h="365760">
                <a:tc>
                  <a:txBody>
                    <a:bodyPr/>
                    <a:lstStyle/>
                    <a:p>
                      <a:pPr>
                        <a:defRPr sz="1000"/>
                      </a:pPr>
                      <a:r>
                        <a:t>2. Pregunta 2: ¿Qué opinas sobre el aspecto #2 del servicio prestado?</a:t>
                      </a:r>
                    </a:p>
                  </a:txBody>
                  <a:tcPr/>
                </a:tc>
                <a:tc>
                  <a:txBody>
                    <a:bodyPr/>
                    <a:lstStyle/>
                    <a:p>
                      <a:pPr>
                        <a:defRPr sz="1000"/>
                      </a:pPr>
                      <a:r>
                        <a:t>Top Opción</a:t>
                      </a:r>
                    </a:p>
                  </a:txBody>
                  <a:tcPr/>
                </a:tc>
                <a:tc>
                  <a:txBody>
                    <a:bodyPr/>
                    <a:lstStyle/>
                    <a:p>
                      <a:pPr>
                        <a:defRPr sz="1000" b="1"/>
                      </a:pPr>
                      <a:r>
                        <a:t>Opción favorita 2 (47%)</a:t>
                      </a:r>
                    </a:p>
                  </a:txBody>
                  <a:tcPr/>
                </a:tc>
              </a:tr>
              <a:tr h="365760">
                <a:tc>
                  <a:txBody>
                    <a:bodyPr/>
                    <a:lstStyle/>
                    <a:p>
                      <a:pPr>
                        <a:defRPr sz="1000"/>
                      </a:pPr>
                      <a:r>
                        <a:t>3. Pregunta 3: ¿Qué opinas sobre el aspecto #3 del servicio prestado?</a:t>
                      </a:r>
                    </a:p>
                  </a:txBody>
                  <a:tcPr/>
                </a:tc>
                <a:tc>
                  <a:txBody>
                    <a:bodyPr/>
                    <a:lstStyle/>
                    <a:p>
                      <a:pPr>
                        <a:defRPr sz="1000"/>
                      </a:pPr>
                      <a:r>
                        <a:t>Promedio</a:t>
                      </a:r>
                    </a:p>
                  </a:txBody>
                  <a:tcPr/>
                </a:tc>
                <a:tc>
                  <a:txBody>
                    <a:bodyPr/>
                    <a:lstStyle/>
                    <a:p>
                      <a:pPr>
                        <a:defRPr sz="1000" b="1"/>
                      </a:pPr>
                      <a:r>
                        <a:t>7.5</a:t>
                      </a:r>
                    </a:p>
                  </a:txBody>
                  <a:tcPr/>
                </a:tc>
              </a:tr>
              <a:tr h="365760">
                <a:tc>
                  <a:txBody>
                    <a:bodyPr/>
                    <a:lstStyle/>
                    <a:p>
                      <a:pPr>
                        <a:defRPr sz="1000"/>
                      </a:pPr>
                      <a:r>
                        <a:t>4. Pregunta 4: ¿Qué opinas sobre el aspecto #4 del servicio prestado?</a:t>
                      </a:r>
                    </a:p>
                  </a:txBody>
                  <a:tcPr/>
                </a:tc>
                <a:tc>
                  <a:txBody>
                    <a:bodyPr/>
                    <a:lstStyle/>
                    <a:p>
                      <a:pPr>
                        <a:defRPr sz="1000"/>
                      </a:pPr>
                      <a:r>
                        <a:t>Top Opción</a:t>
                      </a:r>
                    </a:p>
                  </a:txBody>
                  <a:tcPr/>
                </a:tc>
                <a:tc>
                  <a:txBody>
                    <a:bodyPr/>
                    <a:lstStyle/>
                    <a:p>
                      <a:pPr>
                        <a:defRPr sz="1000" b="1"/>
                      </a:pPr>
                      <a:r>
                        <a:t>Opción favorita 4 (49%)</a:t>
                      </a:r>
                    </a:p>
                  </a:txBody>
                  <a:tcPr/>
                </a:tc>
              </a:tr>
              <a:tr h="365760">
                <a:tc>
                  <a:txBody>
                    <a:bodyPr/>
                    <a:lstStyle/>
                    <a:p>
                      <a:pPr>
                        <a:defRPr sz="1000"/>
                      </a:pPr>
                      <a:r>
                        <a:t>5. Pregunta 5: ¿Qué opinas sobre el aspecto #5 del servicio prestado?</a:t>
                      </a:r>
                    </a:p>
                  </a:txBody>
                  <a:tcPr/>
                </a:tc>
                <a:tc>
                  <a:txBody>
                    <a:bodyPr/>
                    <a:lstStyle/>
                    <a:p>
                      <a:pPr>
                        <a:defRPr sz="1000"/>
                      </a:pPr>
                      <a:r>
                        <a:t>Top Opción</a:t>
                      </a:r>
                    </a:p>
                  </a:txBody>
                  <a:tcPr/>
                </a:tc>
                <a:tc>
                  <a:txBody>
                    <a:bodyPr/>
                    <a:lstStyle/>
                    <a:p>
                      <a:pPr>
                        <a:defRPr sz="1000" b="1"/>
                      </a:pPr>
                      <a:r>
                        <a:t>Opción favorita 5 (50%)</a:t>
                      </a:r>
                    </a:p>
                  </a:txBody>
                  <a:tcPr/>
                </a:tc>
              </a:tr>
              <a:tr h="365760">
                <a:tc>
                  <a:txBody>
                    <a:bodyPr/>
                    <a:lstStyle/>
                    <a:p>
                      <a:pPr>
                        <a:defRPr sz="1000"/>
                      </a:pPr>
                      <a:r>
                        <a:t>6. Pregunta 6: ¿Qué opinas sobre el aspecto #6 del servicio prestado?</a:t>
                      </a:r>
                    </a:p>
                  </a:txBody>
                  <a:tcPr/>
                </a:tc>
                <a:tc>
                  <a:txBody>
                    <a:bodyPr/>
                    <a:lstStyle/>
                    <a:p>
                      <a:pPr>
                        <a:defRPr sz="1000"/>
                      </a:pPr>
                      <a:r>
                        <a:t>Promedio</a:t>
                      </a:r>
                    </a:p>
                  </a:txBody>
                  <a:tcPr/>
                </a:tc>
                <a:tc>
                  <a:txBody>
                    <a:bodyPr/>
                    <a:lstStyle/>
                    <a:p>
                      <a:pPr>
                        <a:defRPr sz="1000" b="1"/>
                      </a:pPr>
                      <a:r>
                        <a:t>7.5</a:t>
                      </a:r>
                    </a:p>
                  </a:txBody>
                  <a:tcPr/>
                </a:tc>
              </a:tr>
              <a:tr h="365760">
                <a:tc>
                  <a:txBody>
                    <a:bodyPr/>
                    <a:lstStyle/>
                    <a:p>
                      <a:pPr>
                        <a:defRPr sz="1000"/>
                      </a:pPr>
                      <a:r>
                        <a:t>7. Pregunta 7: ¿Qué opinas sobre el aspecto #7 del servicio prestado?</a:t>
                      </a:r>
                    </a:p>
                  </a:txBody>
                  <a:tcPr/>
                </a:tc>
                <a:tc>
                  <a:txBody>
                    <a:bodyPr/>
                    <a:lstStyle/>
                    <a:p>
                      <a:pPr>
                        <a:defRPr sz="1000"/>
                      </a:pPr>
                      <a:r>
                        <a:t>Top Opción</a:t>
                      </a:r>
                    </a:p>
                  </a:txBody>
                  <a:tcPr/>
                </a:tc>
                <a:tc>
                  <a:txBody>
                    <a:bodyPr/>
                    <a:lstStyle/>
                    <a:p>
                      <a:pPr>
                        <a:defRPr sz="1000" b="1"/>
                      </a:pPr>
                      <a:r>
                        <a:t>Opción favorita 7 (52%)</a:t>
                      </a:r>
                    </a:p>
                  </a:txBody>
                  <a:tcPr/>
                </a:tc>
              </a:tr>
              <a:tr h="365760">
                <a:tc>
                  <a:txBody>
                    <a:bodyPr/>
                    <a:lstStyle/>
                    <a:p>
                      <a:pPr>
                        <a:defRPr sz="1000"/>
                      </a:pPr>
                      <a:r>
                        <a:t>8. Pregunta 8: ¿Qué opinas sobre el aspecto #8 del servicio prestado?</a:t>
                      </a:r>
                    </a:p>
                  </a:txBody>
                  <a:tcPr/>
                </a:tc>
                <a:tc>
                  <a:txBody>
                    <a:bodyPr/>
                    <a:lstStyle/>
                    <a:p>
                      <a:pPr>
                        <a:defRPr sz="1000"/>
                      </a:pPr>
                      <a:r>
                        <a:t>Top Opción</a:t>
                      </a:r>
                    </a:p>
                  </a:txBody>
                  <a:tcPr/>
                </a:tc>
                <a:tc>
                  <a:txBody>
                    <a:bodyPr/>
                    <a:lstStyle/>
                    <a:p>
                      <a:pPr>
                        <a:defRPr sz="1000" b="1"/>
                      </a:pPr>
                      <a:r>
                        <a:t>Opción favorita 8 (53%)</a:t>
                      </a:r>
                    </a:p>
                  </a:txBody>
                  <a:tcPr/>
                </a:tc>
              </a:tr>
              <a:tr h="365760">
                <a:tc>
                  <a:txBody>
                    <a:bodyPr/>
                    <a:lstStyle/>
                    <a:p>
                      <a:pPr>
                        <a:defRPr sz="1000"/>
                      </a:pPr>
                      <a:r>
                        <a:t>9. Pregunta 9: ¿Qué opinas sobre el aspecto #9 del servicio prestado?</a:t>
                      </a:r>
                    </a:p>
                  </a:txBody>
                  <a:tcPr/>
                </a:tc>
                <a:tc>
                  <a:txBody>
                    <a:bodyPr/>
                    <a:lstStyle/>
                    <a:p>
                      <a:pPr>
                        <a:defRPr sz="1000"/>
                      </a:pPr>
                      <a:r>
                        <a:t>Promedio</a:t>
                      </a:r>
                    </a:p>
                  </a:txBody>
                  <a:tcPr/>
                </a:tc>
                <a:tc>
                  <a:txBody>
                    <a:bodyPr/>
                    <a:lstStyle/>
                    <a:p>
                      <a:pPr>
                        <a:defRPr sz="1000" b="1"/>
                      </a:pPr>
                      <a:r>
                        <a:t>7.5</a:t>
                      </a:r>
                    </a:p>
                  </a:txBody>
                  <a:tcPr/>
                </a:tc>
              </a:tr>
              <a:tr h="365760">
                <a:tc>
                  <a:txBody>
                    <a:bodyPr/>
                    <a:lstStyle/>
                    <a:p>
                      <a:pPr>
                        <a:defRPr sz="1000"/>
                      </a:pPr>
                      <a:r>
                        <a:t>10. Pregunta 10: ¿Qué opinas sobre el aspecto #10 del servicio prestado?</a:t>
                      </a:r>
                    </a:p>
                  </a:txBody>
                  <a:tcPr/>
                </a:tc>
                <a:tc>
                  <a:txBody>
                    <a:bodyPr/>
                    <a:lstStyle/>
                    <a:p>
                      <a:pPr>
                        <a:defRPr sz="1000"/>
                      </a:pPr>
                      <a:r>
                        <a:t>Top Opción</a:t>
                      </a:r>
                    </a:p>
                  </a:txBody>
                  <a:tcPr/>
                </a:tc>
                <a:tc>
                  <a:txBody>
                    <a:bodyPr/>
                    <a:lstStyle/>
                    <a:p>
                      <a:pPr>
                        <a:defRPr sz="1000" b="1"/>
                      </a:pPr>
                      <a:r>
                        <a:t>Opción favorita 10 (55%)</a:t>
                      </a:r>
                    </a:p>
                  </a:txBody>
                  <a:tcPr/>
                </a:tc>
              </a:tr>
              <a:tr h="365760">
                <a:tc>
                  <a:txBody>
                    <a:bodyPr/>
                    <a:lstStyle/>
                    <a:p>
                      <a:pPr>
                        <a:defRPr sz="1000"/>
                      </a:pPr>
                      <a:r>
                        <a:t>11. Pregunta 11: ¿Qué opinas sobre el aspecto #11 del servicio prestado?</a:t>
                      </a:r>
                    </a:p>
                  </a:txBody>
                  <a:tcPr/>
                </a:tc>
                <a:tc>
                  <a:txBody>
                    <a:bodyPr/>
                    <a:lstStyle/>
                    <a:p>
                      <a:pPr>
                        <a:defRPr sz="1000"/>
                      </a:pPr>
                      <a:r>
                        <a:t>Top Opción</a:t>
                      </a:r>
                    </a:p>
                  </a:txBody>
                  <a:tcPr/>
                </a:tc>
                <a:tc>
                  <a:txBody>
                    <a:bodyPr/>
                    <a:lstStyle/>
                    <a:p>
                      <a:pPr>
                        <a:defRPr sz="1000" b="1"/>
                      </a:pPr>
                      <a:r>
                        <a:t>Opción favorita 11 (56%)</a:t>
                      </a:r>
                    </a:p>
                  </a:txBody>
                  <a:tcPr/>
                </a:tc>
              </a:tr>
              <a:tr h="365760">
                <a:tc>
                  <a:txBody>
                    <a:bodyPr/>
                    <a:lstStyle/>
                    <a:p>
                      <a:pPr>
                        <a:defRPr sz="1000"/>
                      </a:pPr>
                      <a:r>
                        <a:t>12. Pregunta 12: ¿Qué opinas sobre el aspecto #12 del servicio prestado?</a:t>
                      </a:r>
                    </a:p>
                  </a:txBody>
                  <a:tcPr/>
                </a:tc>
                <a:tc>
                  <a:txBody>
                    <a:bodyPr/>
                    <a:lstStyle/>
                    <a:p>
                      <a:pPr>
                        <a:defRPr sz="1000"/>
                      </a:pPr>
                      <a:r>
                        <a:t>Promedio</a:t>
                      </a:r>
                    </a:p>
                  </a:txBody>
                  <a:tcPr/>
                </a:tc>
                <a:tc>
                  <a:txBody>
                    <a:bodyPr/>
                    <a:lstStyle/>
                    <a:p>
                      <a:pPr>
                        <a:defRPr sz="1000" b="1"/>
                      </a:pPr>
                      <a:r>
                        <a:t>7.5</a:t>
                      </a:r>
                    </a:p>
                  </a:txBody>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37160" cy="6858000"/>
          </a:xfrm>
          <a:prstGeom prst="rect">
            <a:avLst/>
          </a:prstGeom>
          <a:solidFill>
            <a:srgbClr val="0050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400" b="1">
                <a:solidFill>
                  <a:srgbClr val="111827"/>
                </a:solidFill>
                <a:latin typeface="Segoe UI"/>
              </a:defRPr>
            </a:pPr>
            <a:r>
              <a:t>1. Pregunta 1: ¿Qué opinas sobre el aspecto #1 del servicio prestado?</a:t>
            </a:r>
          </a:p>
        </p:txBody>
      </p:sp>
      <p:sp>
        <p:nvSpPr>
          <p:cNvPr id="4" name="Rounded Rectangle 3"/>
          <p:cNvSpPr/>
          <p:nvPr/>
        </p:nvSpPr>
        <p:spPr>
          <a:xfrm>
            <a:off x="493776" y="1408176"/>
            <a:ext cx="3200400" cy="1828800"/>
          </a:xfrm>
          <a:prstGeom prst="roundRect">
            <a:avLst/>
          </a:prstGeom>
          <a:solidFill>
            <a:srgbClr val="DCDC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371600"/>
            <a:ext cx="3200400" cy="1828800"/>
          </a:xfrm>
          <a:prstGeom prst="roundRect">
            <a:avLst/>
          </a:prstGeom>
          <a:solidFill>
            <a:srgbClr val="FFFFFF"/>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554480"/>
            <a:ext cx="2834640" cy="274320"/>
          </a:xfrm>
          <a:prstGeom prst="rect">
            <a:avLst/>
          </a:prstGeom>
          <a:noFill/>
        </p:spPr>
        <p:txBody>
          <a:bodyPr wrap="none">
            <a:spAutoFit/>
          </a:bodyPr>
          <a:lstStyle/>
          <a:p>
            <a:pPr>
              <a:defRPr sz="1000" b="1">
                <a:solidFill>
                  <a:srgbClr val="6B7280"/>
                </a:solidFill>
                <a:latin typeface="Segoe UI"/>
              </a:defRPr>
            </a:pPr>
            <a:r>
              <a:t>TOP OPCIÓN</a:t>
            </a:r>
          </a:p>
        </p:txBody>
      </p:sp>
      <p:sp>
        <p:nvSpPr>
          <p:cNvPr id="7" name="TextBox 6"/>
          <p:cNvSpPr txBox="1"/>
          <p:nvPr/>
        </p:nvSpPr>
        <p:spPr>
          <a:xfrm>
            <a:off x="640080" y="1783080"/>
            <a:ext cx="2834640" cy="731520"/>
          </a:xfrm>
          <a:prstGeom prst="rect">
            <a:avLst/>
          </a:prstGeom>
          <a:noFill/>
        </p:spPr>
        <p:txBody>
          <a:bodyPr wrap="square" anchor="t">
            <a:spAutoFit/>
          </a:bodyPr>
          <a:lstStyle/>
          <a:p>
            <a:pPr>
              <a:defRPr sz="1800" b="1">
                <a:solidFill>
                  <a:srgbClr val="00509E"/>
                </a:solidFill>
                <a:latin typeface="Segoe UI"/>
              </a:defRPr>
            </a:pPr>
            <a:r>
              <a:t>Opción favorita 1 (46%)</a:t>
            </a:r>
          </a:p>
        </p:txBody>
      </p:sp>
      <p:sp>
        <p:nvSpPr>
          <p:cNvPr id="8" name="TextBox 7"/>
          <p:cNvSpPr txBox="1"/>
          <p:nvPr/>
        </p:nvSpPr>
        <p:spPr>
          <a:xfrm>
            <a:off x="640080" y="2606040"/>
            <a:ext cx="2834640" cy="274320"/>
          </a:xfrm>
          <a:prstGeom prst="rect">
            <a:avLst/>
          </a:prstGeom>
          <a:noFill/>
        </p:spPr>
        <p:txBody>
          <a:bodyPr wrap="none">
            <a:spAutoFit/>
          </a:bodyPr>
          <a:lstStyle/>
          <a:p>
            <a:pPr>
              <a:defRPr sz="1100">
                <a:solidFill>
                  <a:srgbClr val="EF4444"/>
                </a:solidFill>
                <a:latin typeface="Segoe UI"/>
              </a:defRPr>
            </a:pPr>
            <a:r>
              <a:t>▼ 3.0% vs. periodo ant.</a:t>
            </a:r>
          </a:p>
        </p:txBody>
      </p:sp>
      <p:sp>
        <p:nvSpPr>
          <p:cNvPr id="9" name="Rounded Rectangle 8"/>
          <p:cNvSpPr/>
          <p:nvPr/>
        </p:nvSpPr>
        <p:spPr>
          <a:xfrm>
            <a:off x="4151376" y="1408176"/>
            <a:ext cx="4572000" cy="3200400"/>
          </a:xfrm>
          <a:prstGeom prst="roundRect">
            <a:avLst/>
          </a:prstGeom>
          <a:solidFill>
            <a:srgbClr val="DCDC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114800" y="1371600"/>
            <a:ext cx="4572000" cy="3200400"/>
          </a:xfrm>
          <a:prstGeom prst="roundRect">
            <a:avLst/>
          </a:prstGeom>
          <a:solidFill>
            <a:srgbClr val="FFFFFF"/>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png"/>
          <p:cNvPicPr>
            <a:picLocks noChangeAspect="1"/>
          </p:cNvPicPr>
          <p:nvPr/>
        </p:nvPicPr>
        <p:blipFill>
          <a:blip r:embed="rId2"/>
          <a:stretch>
            <a:fillRect/>
          </a:stretch>
        </p:blipFill>
        <p:spPr>
          <a:xfrm>
            <a:off x="4206240" y="1463040"/>
            <a:ext cx="4389120" cy="3017520"/>
          </a:xfrm>
          <a:prstGeom prst="rect">
            <a:avLst/>
          </a:prstGeom>
        </p:spPr>
      </p:pic>
      <p:sp>
        <p:nvSpPr>
          <p:cNvPr id="12" name="Rounded Rectangle 11"/>
          <p:cNvSpPr/>
          <p:nvPr/>
        </p:nvSpPr>
        <p:spPr>
          <a:xfrm>
            <a:off x="457200" y="4754880"/>
            <a:ext cx="8229600" cy="1463040"/>
          </a:xfrm>
          <a:prstGeom prst="roundRect">
            <a:avLst/>
          </a:prstGeom>
          <a:solidFill>
            <a:srgbClr val="F2F6FA"/>
          </a:solidFill>
          <a:ln w="12700">
            <a:solidFill>
              <a:srgbClr val="CCDC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4892040"/>
            <a:ext cx="7863840" cy="274320"/>
          </a:xfrm>
          <a:prstGeom prst="rect">
            <a:avLst/>
          </a:prstGeom>
          <a:noFill/>
        </p:spPr>
        <p:txBody>
          <a:bodyPr wrap="none">
            <a:spAutoFit/>
          </a:bodyPr>
          <a:lstStyle/>
          <a:p>
            <a:pPr>
              <a:defRPr sz="900" b="1">
                <a:solidFill>
                  <a:srgbClr val="00509E"/>
                </a:solidFill>
                <a:latin typeface="Segoe UI"/>
              </a:defRPr>
            </a:pPr>
            <a:r>
              <a:t>ANALISIS INTELIGENTE</a:t>
            </a:r>
          </a:p>
        </p:txBody>
      </p:sp>
      <p:sp>
        <p:nvSpPr>
          <p:cNvPr id="14" name="TextBox 13"/>
          <p:cNvSpPr txBox="1"/>
          <p:nvPr/>
        </p:nvSpPr>
        <p:spPr>
          <a:xfrm>
            <a:off x="640080" y="5120640"/>
            <a:ext cx="7863840" cy="960120"/>
          </a:xfrm>
          <a:prstGeom prst="rect">
            <a:avLst/>
          </a:prstGeom>
          <a:noFill/>
        </p:spPr>
        <p:txBody>
          <a:bodyPr wrap="square">
            <a:spAutoFit/>
          </a:bodyPr>
          <a:lstStyle/>
          <a:p>
            <a:pPr algn="just">
              <a:defRPr sz="1100" i="1">
                <a:solidFill>
                  <a:srgbClr val="111827"/>
                </a:solidFill>
                <a:latin typeface="Segoe UI"/>
              </a:defRPr>
            </a:pPr>
            <a:r>
              <a:t>Esta es una narrativa muy larga para la pregunta 1 que debe ajustarse correctamente dentro de la caja de narrativa sin desbordar los márgenes de la diapositiva. Incluye análisis detallado de tendencias y recomendaciones específicas para mejorar la experiencia del usuario.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37160" cy="6858000"/>
          </a:xfrm>
          <a:prstGeom prst="rect">
            <a:avLst/>
          </a:prstGeom>
          <a:solidFill>
            <a:srgbClr val="0050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400" b="1">
                <a:solidFill>
                  <a:srgbClr val="111827"/>
                </a:solidFill>
                <a:latin typeface="Segoe UI"/>
              </a:defRPr>
            </a:pPr>
            <a:r>
              <a:t>2. Pregunta 2: ¿Qué opinas sobre el aspecto #2 del servicio prestado?</a:t>
            </a:r>
          </a:p>
        </p:txBody>
      </p:sp>
      <p:sp>
        <p:nvSpPr>
          <p:cNvPr id="4" name="Rounded Rectangle 3"/>
          <p:cNvSpPr/>
          <p:nvPr/>
        </p:nvSpPr>
        <p:spPr>
          <a:xfrm>
            <a:off x="493776" y="1408176"/>
            <a:ext cx="3200400" cy="1828800"/>
          </a:xfrm>
          <a:prstGeom prst="roundRect">
            <a:avLst/>
          </a:prstGeom>
          <a:solidFill>
            <a:srgbClr val="DCDC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371600"/>
            <a:ext cx="3200400" cy="1828800"/>
          </a:xfrm>
          <a:prstGeom prst="roundRect">
            <a:avLst/>
          </a:prstGeom>
          <a:solidFill>
            <a:srgbClr val="FFFFFF"/>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554480"/>
            <a:ext cx="2834640" cy="274320"/>
          </a:xfrm>
          <a:prstGeom prst="rect">
            <a:avLst/>
          </a:prstGeom>
          <a:noFill/>
        </p:spPr>
        <p:txBody>
          <a:bodyPr wrap="none">
            <a:spAutoFit/>
          </a:bodyPr>
          <a:lstStyle/>
          <a:p>
            <a:pPr>
              <a:defRPr sz="1000" b="1">
                <a:solidFill>
                  <a:srgbClr val="6B7280"/>
                </a:solidFill>
                <a:latin typeface="Segoe UI"/>
              </a:defRPr>
            </a:pPr>
            <a:r>
              <a:t>TOP OPCIÓN</a:t>
            </a:r>
          </a:p>
        </p:txBody>
      </p:sp>
      <p:sp>
        <p:nvSpPr>
          <p:cNvPr id="7" name="TextBox 6"/>
          <p:cNvSpPr txBox="1"/>
          <p:nvPr/>
        </p:nvSpPr>
        <p:spPr>
          <a:xfrm>
            <a:off x="640080" y="1783080"/>
            <a:ext cx="2834640" cy="731520"/>
          </a:xfrm>
          <a:prstGeom prst="rect">
            <a:avLst/>
          </a:prstGeom>
          <a:noFill/>
        </p:spPr>
        <p:txBody>
          <a:bodyPr wrap="square" anchor="t">
            <a:spAutoFit/>
          </a:bodyPr>
          <a:lstStyle/>
          <a:p>
            <a:pPr>
              <a:defRPr sz="1800" b="1">
                <a:solidFill>
                  <a:srgbClr val="00509E"/>
                </a:solidFill>
                <a:latin typeface="Segoe UI"/>
              </a:defRPr>
            </a:pPr>
            <a:r>
              <a:t>Opción favorita 2 (47%)</a:t>
            </a:r>
          </a:p>
        </p:txBody>
      </p:sp>
      <p:sp>
        <p:nvSpPr>
          <p:cNvPr id="8" name="TextBox 7"/>
          <p:cNvSpPr txBox="1"/>
          <p:nvPr/>
        </p:nvSpPr>
        <p:spPr>
          <a:xfrm>
            <a:off x="640080" y="2606040"/>
            <a:ext cx="2834640" cy="274320"/>
          </a:xfrm>
          <a:prstGeom prst="rect">
            <a:avLst/>
          </a:prstGeom>
          <a:noFill/>
        </p:spPr>
        <p:txBody>
          <a:bodyPr wrap="none">
            <a:spAutoFit/>
          </a:bodyPr>
          <a:lstStyle/>
          <a:p>
            <a:pPr>
              <a:defRPr sz="1100">
                <a:solidFill>
                  <a:srgbClr val="10B981"/>
                </a:solidFill>
                <a:latin typeface="Segoe UI"/>
              </a:defRPr>
            </a:pPr>
            <a:r>
              <a:t>▲ 5.0% vs. periodo ant.</a:t>
            </a:r>
          </a:p>
        </p:txBody>
      </p:sp>
      <p:sp>
        <p:nvSpPr>
          <p:cNvPr id="9" name="Rounded Rectangle 8"/>
          <p:cNvSpPr/>
          <p:nvPr/>
        </p:nvSpPr>
        <p:spPr>
          <a:xfrm>
            <a:off x="4151376" y="1408176"/>
            <a:ext cx="4572000" cy="3200400"/>
          </a:xfrm>
          <a:prstGeom prst="roundRect">
            <a:avLst/>
          </a:prstGeom>
          <a:solidFill>
            <a:srgbClr val="DCDC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114800" y="1371600"/>
            <a:ext cx="4572000" cy="3200400"/>
          </a:xfrm>
          <a:prstGeom prst="roundRect">
            <a:avLst/>
          </a:prstGeom>
          <a:solidFill>
            <a:srgbClr val="FFFFFF"/>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png"/>
          <p:cNvPicPr>
            <a:picLocks noChangeAspect="1"/>
          </p:cNvPicPr>
          <p:nvPr/>
        </p:nvPicPr>
        <p:blipFill>
          <a:blip r:embed="rId2"/>
          <a:stretch>
            <a:fillRect/>
          </a:stretch>
        </p:blipFill>
        <p:spPr>
          <a:xfrm>
            <a:off x="4206240" y="1463040"/>
            <a:ext cx="4389120" cy="3017520"/>
          </a:xfrm>
          <a:prstGeom prst="rect">
            <a:avLst/>
          </a:prstGeom>
        </p:spPr>
      </p:pic>
      <p:sp>
        <p:nvSpPr>
          <p:cNvPr id="12" name="Rounded Rectangle 11"/>
          <p:cNvSpPr/>
          <p:nvPr/>
        </p:nvSpPr>
        <p:spPr>
          <a:xfrm>
            <a:off x="457200" y="4754880"/>
            <a:ext cx="8229600" cy="1463040"/>
          </a:xfrm>
          <a:prstGeom prst="roundRect">
            <a:avLst/>
          </a:prstGeom>
          <a:solidFill>
            <a:srgbClr val="F2F6FA"/>
          </a:solidFill>
          <a:ln w="12700">
            <a:solidFill>
              <a:srgbClr val="CCDC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4892040"/>
            <a:ext cx="7863840" cy="274320"/>
          </a:xfrm>
          <a:prstGeom prst="rect">
            <a:avLst/>
          </a:prstGeom>
          <a:noFill/>
        </p:spPr>
        <p:txBody>
          <a:bodyPr wrap="none">
            <a:spAutoFit/>
          </a:bodyPr>
          <a:lstStyle/>
          <a:p>
            <a:pPr>
              <a:defRPr sz="900" b="1">
                <a:solidFill>
                  <a:srgbClr val="00509E"/>
                </a:solidFill>
                <a:latin typeface="Segoe UI"/>
              </a:defRPr>
            </a:pPr>
            <a:r>
              <a:t>ANALISIS INTELIGENTE</a:t>
            </a:r>
          </a:p>
        </p:txBody>
      </p:sp>
      <p:sp>
        <p:nvSpPr>
          <p:cNvPr id="14" name="TextBox 13"/>
          <p:cNvSpPr txBox="1"/>
          <p:nvPr/>
        </p:nvSpPr>
        <p:spPr>
          <a:xfrm>
            <a:off x="640080" y="5120640"/>
            <a:ext cx="7863840" cy="960120"/>
          </a:xfrm>
          <a:prstGeom prst="rect">
            <a:avLst/>
          </a:prstGeom>
          <a:noFill/>
        </p:spPr>
        <p:txBody>
          <a:bodyPr wrap="square">
            <a:spAutoFit/>
          </a:bodyPr>
          <a:lstStyle/>
          <a:p>
            <a:pPr algn="just">
              <a:defRPr sz="1100" i="1">
                <a:solidFill>
                  <a:srgbClr val="111827"/>
                </a:solidFill>
                <a:latin typeface="Segoe UI"/>
              </a:defRPr>
            </a:pPr>
            <a:r>
              <a:t>Esta es una narrativa muy larga para la pregunta 2 que debe ajustarse correctamente dentro de la caja de narrativa sin desbordar los márgenes de la diapositiva. Incluye análisis detallado de tendencias y recomendaciones específicas para mejorar la experiencia del usuario.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37160" cy="6858000"/>
          </a:xfrm>
          <a:prstGeom prst="rect">
            <a:avLst/>
          </a:prstGeom>
          <a:solidFill>
            <a:srgbClr val="0050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400" b="1">
                <a:solidFill>
                  <a:srgbClr val="111827"/>
                </a:solidFill>
                <a:latin typeface="Segoe UI"/>
              </a:defRPr>
            </a:pPr>
            <a:r>
              <a:t>3. Pregunta 3: ¿Qué opinas sobre el aspecto #3 del servicio prestado?</a:t>
            </a:r>
          </a:p>
        </p:txBody>
      </p:sp>
      <p:sp>
        <p:nvSpPr>
          <p:cNvPr id="4" name="Rounded Rectangle 3"/>
          <p:cNvSpPr/>
          <p:nvPr/>
        </p:nvSpPr>
        <p:spPr>
          <a:xfrm>
            <a:off x="493776" y="1408176"/>
            <a:ext cx="3200400" cy="1828800"/>
          </a:xfrm>
          <a:prstGeom prst="roundRect">
            <a:avLst/>
          </a:prstGeom>
          <a:solidFill>
            <a:srgbClr val="DCDC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371600"/>
            <a:ext cx="3200400" cy="1828800"/>
          </a:xfrm>
          <a:prstGeom prst="roundRect">
            <a:avLst/>
          </a:prstGeom>
          <a:solidFill>
            <a:srgbClr val="FFFFFF"/>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554480"/>
            <a:ext cx="2834640" cy="274320"/>
          </a:xfrm>
          <a:prstGeom prst="rect">
            <a:avLst/>
          </a:prstGeom>
          <a:noFill/>
        </p:spPr>
        <p:txBody>
          <a:bodyPr wrap="none">
            <a:spAutoFit/>
          </a:bodyPr>
          <a:lstStyle/>
          <a:p>
            <a:pPr>
              <a:defRPr sz="1000" b="1">
                <a:solidFill>
                  <a:srgbClr val="6B7280"/>
                </a:solidFill>
                <a:latin typeface="Segoe UI"/>
              </a:defRPr>
            </a:pPr>
            <a:r>
              <a:t>PROMEDIO</a:t>
            </a:r>
          </a:p>
        </p:txBody>
      </p:sp>
      <p:sp>
        <p:nvSpPr>
          <p:cNvPr id="7" name="TextBox 6"/>
          <p:cNvSpPr txBox="1"/>
          <p:nvPr/>
        </p:nvSpPr>
        <p:spPr>
          <a:xfrm>
            <a:off x="640080" y="1783080"/>
            <a:ext cx="2834640" cy="731520"/>
          </a:xfrm>
          <a:prstGeom prst="rect">
            <a:avLst/>
          </a:prstGeom>
          <a:noFill/>
        </p:spPr>
        <p:txBody>
          <a:bodyPr wrap="square" anchor="t">
            <a:spAutoFit/>
          </a:bodyPr>
          <a:lstStyle/>
          <a:p>
            <a:pPr>
              <a:defRPr sz="4000" b="1">
                <a:solidFill>
                  <a:srgbClr val="00509E"/>
                </a:solidFill>
                <a:latin typeface="Segoe UI"/>
              </a:defRPr>
            </a:pPr>
            <a:r>
              <a:t>7.5</a:t>
            </a:r>
          </a:p>
        </p:txBody>
      </p:sp>
      <p:sp>
        <p:nvSpPr>
          <p:cNvPr id="8" name="TextBox 7"/>
          <p:cNvSpPr txBox="1"/>
          <p:nvPr/>
        </p:nvSpPr>
        <p:spPr>
          <a:xfrm>
            <a:off x="640080" y="2423160"/>
            <a:ext cx="2834640" cy="274320"/>
          </a:xfrm>
          <a:prstGeom prst="rect">
            <a:avLst/>
          </a:prstGeom>
          <a:noFill/>
        </p:spPr>
        <p:txBody>
          <a:bodyPr wrap="none">
            <a:spAutoFit/>
          </a:bodyPr>
          <a:lstStyle/>
          <a:p>
            <a:pPr>
              <a:defRPr sz="1100">
                <a:solidFill>
                  <a:srgbClr val="EF4444"/>
                </a:solidFill>
                <a:latin typeface="Segoe UI"/>
              </a:defRPr>
            </a:pPr>
            <a:r>
              <a:t>▼ 3.0% vs. periodo ant.</a:t>
            </a:r>
          </a:p>
        </p:txBody>
      </p:sp>
      <p:sp>
        <p:nvSpPr>
          <p:cNvPr id="9" name="Rounded Rectangle 8"/>
          <p:cNvSpPr/>
          <p:nvPr/>
        </p:nvSpPr>
        <p:spPr>
          <a:xfrm>
            <a:off x="4151376" y="1408176"/>
            <a:ext cx="4572000" cy="3200400"/>
          </a:xfrm>
          <a:prstGeom prst="roundRect">
            <a:avLst/>
          </a:prstGeom>
          <a:solidFill>
            <a:srgbClr val="DCDC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114800" y="1371600"/>
            <a:ext cx="4572000" cy="3200400"/>
          </a:xfrm>
          <a:prstGeom prst="roundRect">
            <a:avLst/>
          </a:prstGeom>
          <a:solidFill>
            <a:srgbClr val="FFFFFF"/>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png"/>
          <p:cNvPicPr>
            <a:picLocks noChangeAspect="1"/>
          </p:cNvPicPr>
          <p:nvPr/>
        </p:nvPicPr>
        <p:blipFill>
          <a:blip r:embed="rId2"/>
          <a:stretch>
            <a:fillRect/>
          </a:stretch>
        </p:blipFill>
        <p:spPr>
          <a:xfrm>
            <a:off x="4206240" y="1463040"/>
            <a:ext cx="4389120" cy="3017520"/>
          </a:xfrm>
          <a:prstGeom prst="rect">
            <a:avLst/>
          </a:prstGeom>
        </p:spPr>
      </p:pic>
      <p:sp>
        <p:nvSpPr>
          <p:cNvPr id="12" name="Rounded Rectangle 11"/>
          <p:cNvSpPr/>
          <p:nvPr/>
        </p:nvSpPr>
        <p:spPr>
          <a:xfrm>
            <a:off x="457200" y="4754880"/>
            <a:ext cx="8229600" cy="1463040"/>
          </a:xfrm>
          <a:prstGeom prst="roundRect">
            <a:avLst/>
          </a:prstGeom>
          <a:solidFill>
            <a:srgbClr val="F2F6FA"/>
          </a:solidFill>
          <a:ln w="12700">
            <a:solidFill>
              <a:srgbClr val="CCDC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4892040"/>
            <a:ext cx="7863840" cy="274320"/>
          </a:xfrm>
          <a:prstGeom prst="rect">
            <a:avLst/>
          </a:prstGeom>
          <a:noFill/>
        </p:spPr>
        <p:txBody>
          <a:bodyPr wrap="none">
            <a:spAutoFit/>
          </a:bodyPr>
          <a:lstStyle/>
          <a:p>
            <a:pPr>
              <a:defRPr sz="900" b="1">
                <a:solidFill>
                  <a:srgbClr val="00509E"/>
                </a:solidFill>
                <a:latin typeface="Segoe UI"/>
              </a:defRPr>
            </a:pPr>
            <a:r>
              <a:t>ANALISIS INTELIGENTE</a:t>
            </a:r>
          </a:p>
        </p:txBody>
      </p:sp>
      <p:sp>
        <p:nvSpPr>
          <p:cNvPr id="14" name="TextBox 13"/>
          <p:cNvSpPr txBox="1"/>
          <p:nvPr/>
        </p:nvSpPr>
        <p:spPr>
          <a:xfrm>
            <a:off x="640080" y="5120640"/>
            <a:ext cx="7863840" cy="960120"/>
          </a:xfrm>
          <a:prstGeom prst="rect">
            <a:avLst/>
          </a:prstGeom>
          <a:noFill/>
        </p:spPr>
        <p:txBody>
          <a:bodyPr wrap="square">
            <a:spAutoFit/>
          </a:bodyPr>
          <a:lstStyle/>
          <a:p>
            <a:pPr algn="just">
              <a:defRPr sz="1100" i="1">
                <a:solidFill>
                  <a:srgbClr val="111827"/>
                </a:solidFill>
                <a:latin typeface="Segoe UI"/>
              </a:defRPr>
            </a:pPr>
            <a:r>
              <a:t>Esta es una narrativa muy larga para la pregunta 3 que debe ajustarse correctamente dentro de la caja de narrativa sin desbordar los márgenes de la diapositiva. Incluye análisis detallado de tendencias y recomendaciones específicas para mejorar la experiencia del usuario.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37160" cy="6858000"/>
          </a:xfrm>
          <a:prstGeom prst="rect">
            <a:avLst/>
          </a:prstGeom>
          <a:solidFill>
            <a:srgbClr val="0050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400" b="1">
                <a:solidFill>
                  <a:srgbClr val="111827"/>
                </a:solidFill>
                <a:latin typeface="Segoe UI"/>
              </a:defRPr>
            </a:pPr>
            <a:r>
              <a:t>4. Pregunta 4: ¿Qué opinas sobre el aspecto #4 del servicio prestado?</a:t>
            </a:r>
          </a:p>
        </p:txBody>
      </p:sp>
      <p:sp>
        <p:nvSpPr>
          <p:cNvPr id="4" name="Rounded Rectangle 3"/>
          <p:cNvSpPr/>
          <p:nvPr/>
        </p:nvSpPr>
        <p:spPr>
          <a:xfrm>
            <a:off x="493776" y="1408176"/>
            <a:ext cx="3200400" cy="1828800"/>
          </a:xfrm>
          <a:prstGeom prst="roundRect">
            <a:avLst/>
          </a:prstGeom>
          <a:solidFill>
            <a:srgbClr val="DCDC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371600"/>
            <a:ext cx="3200400" cy="1828800"/>
          </a:xfrm>
          <a:prstGeom prst="roundRect">
            <a:avLst/>
          </a:prstGeom>
          <a:solidFill>
            <a:srgbClr val="FFFFFF"/>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554480"/>
            <a:ext cx="2834640" cy="274320"/>
          </a:xfrm>
          <a:prstGeom prst="rect">
            <a:avLst/>
          </a:prstGeom>
          <a:noFill/>
        </p:spPr>
        <p:txBody>
          <a:bodyPr wrap="none">
            <a:spAutoFit/>
          </a:bodyPr>
          <a:lstStyle/>
          <a:p>
            <a:pPr>
              <a:defRPr sz="1000" b="1">
                <a:solidFill>
                  <a:srgbClr val="6B7280"/>
                </a:solidFill>
                <a:latin typeface="Segoe UI"/>
              </a:defRPr>
            </a:pPr>
            <a:r>
              <a:t>TOP OPCIÓN</a:t>
            </a:r>
          </a:p>
        </p:txBody>
      </p:sp>
      <p:sp>
        <p:nvSpPr>
          <p:cNvPr id="7" name="TextBox 6"/>
          <p:cNvSpPr txBox="1"/>
          <p:nvPr/>
        </p:nvSpPr>
        <p:spPr>
          <a:xfrm>
            <a:off x="640080" y="1783080"/>
            <a:ext cx="2834640" cy="731520"/>
          </a:xfrm>
          <a:prstGeom prst="rect">
            <a:avLst/>
          </a:prstGeom>
          <a:noFill/>
        </p:spPr>
        <p:txBody>
          <a:bodyPr wrap="square" anchor="t">
            <a:spAutoFit/>
          </a:bodyPr>
          <a:lstStyle/>
          <a:p>
            <a:pPr>
              <a:defRPr sz="1800" b="1">
                <a:solidFill>
                  <a:srgbClr val="00509E"/>
                </a:solidFill>
                <a:latin typeface="Segoe UI"/>
              </a:defRPr>
            </a:pPr>
            <a:r>
              <a:t>Opción favorita 4 (49%)</a:t>
            </a:r>
          </a:p>
        </p:txBody>
      </p:sp>
      <p:sp>
        <p:nvSpPr>
          <p:cNvPr id="8" name="TextBox 7"/>
          <p:cNvSpPr txBox="1"/>
          <p:nvPr/>
        </p:nvSpPr>
        <p:spPr>
          <a:xfrm>
            <a:off x="640080" y="2606040"/>
            <a:ext cx="2834640" cy="274320"/>
          </a:xfrm>
          <a:prstGeom prst="rect">
            <a:avLst/>
          </a:prstGeom>
          <a:noFill/>
        </p:spPr>
        <p:txBody>
          <a:bodyPr wrap="none">
            <a:spAutoFit/>
          </a:bodyPr>
          <a:lstStyle/>
          <a:p>
            <a:pPr>
              <a:defRPr sz="1100">
                <a:solidFill>
                  <a:srgbClr val="10B981"/>
                </a:solidFill>
                <a:latin typeface="Segoe UI"/>
              </a:defRPr>
            </a:pPr>
            <a:r>
              <a:t>▲ 5.0% vs. periodo ant.</a:t>
            </a:r>
          </a:p>
        </p:txBody>
      </p:sp>
      <p:sp>
        <p:nvSpPr>
          <p:cNvPr id="9" name="Rounded Rectangle 8"/>
          <p:cNvSpPr/>
          <p:nvPr/>
        </p:nvSpPr>
        <p:spPr>
          <a:xfrm>
            <a:off x="4151376" y="1408176"/>
            <a:ext cx="4572000" cy="3200400"/>
          </a:xfrm>
          <a:prstGeom prst="roundRect">
            <a:avLst/>
          </a:prstGeom>
          <a:solidFill>
            <a:srgbClr val="DCDC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114800" y="1371600"/>
            <a:ext cx="4572000" cy="3200400"/>
          </a:xfrm>
          <a:prstGeom prst="roundRect">
            <a:avLst/>
          </a:prstGeom>
          <a:solidFill>
            <a:srgbClr val="FFFFFF"/>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png"/>
          <p:cNvPicPr>
            <a:picLocks noChangeAspect="1"/>
          </p:cNvPicPr>
          <p:nvPr/>
        </p:nvPicPr>
        <p:blipFill>
          <a:blip r:embed="rId2"/>
          <a:stretch>
            <a:fillRect/>
          </a:stretch>
        </p:blipFill>
        <p:spPr>
          <a:xfrm>
            <a:off x="4206240" y="1463040"/>
            <a:ext cx="4389120" cy="3017520"/>
          </a:xfrm>
          <a:prstGeom prst="rect">
            <a:avLst/>
          </a:prstGeom>
        </p:spPr>
      </p:pic>
      <p:sp>
        <p:nvSpPr>
          <p:cNvPr id="12" name="Rounded Rectangle 11"/>
          <p:cNvSpPr/>
          <p:nvPr/>
        </p:nvSpPr>
        <p:spPr>
          <a:xfrm>
            <a:off x="457200" y="4754880"/>
            <a:ext cx="8229600" cy="1463040"/>
          </a:xfrm>
          <a:prstGeom prst="roundRect">
            <a:avLst/>
          </a:prstGeom>
          <a:solidFill>
            <a:srgbClr val="F2F6FA"/>
          </a:solidFill>
          <a:ln w="12700">
            <a:solidFill>
              <a:srgbClr val="CCDC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4892040"/>
            <a:ext cx="7863840" cy="274320"/>
          </a:xfrm>
          <a:prstGeom prst="rect">
            <a:avLst/>
          </a:prstGeom>
          <a:noFill/>
        </p:spPr>
        <p:txBody>
          <a:bodyPr wrap="none">
            <a:spAutoFit/>
          </a:bodyPr>
          <a:lstStyle/>
          <a:p>
            <a:pPr>
              <a:defRPr sz="900" b="1">
                <a:solidFill>
                  <a:srgbClr val="00509E"/>
                </a:solidFill>
                <a:latin typeface="Segoe UI"/>
              </a:defRPr>
            </a:pPr>
            <a:r>
              <a:t>ANALISIS INTELIGENTE</a:t>
            </a:r>
          </a:p>
        </p:txBody>
      </p:sp>
      <p:sp>
        <p:nvSpPr>
          <p:cNvPr id="14" name="TextBox 13"/>
          <p:cNvSpPr txBox="1"/>
          <p:nvPr/>
        </p:nvSpPr>
        <p:spPr>
          <a:xfrm>
            <a:off x="640080" y="5120640"/>
            <a:ext cx="7863840" cy="960120"/>
          </a:xfrm>
          <a:prstGeom prst="rect">
            <a:avLst/>
          </a:prstGeom>
          <a:noFill/>
        </p:spPr>
        <p:txBody>
          <a:bodyPr wrap="square">
            <a:spAutoFit/>
          </a:bodyPr>
          <a:lstStyle/>
          <a:p>
            <a:pPr algn="just">
              <a:defRPr sz="1100" i="1">
                <a:solidFill>
                  <a:srgbClr val="111827"/>
                </a:solidFill>
                <a:latin typeface="Segoe UI"/>
              </a:defRPr>
            </a:pPr>
            <a:r>
              <a:t>Esta es una narrativa muy larga para la pregunta 4 que debe ajustarse correctamente dentro de la caja de narrativa sin desbordar los márgenes de la diapositiva. Incluye análisis detallado de tendencias y recomendaciones específicas para mejorar la experiencia del usuario.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37160" cy="6858000"/>
          </a:xfrm>
          <a:prstGeom prst="rect">
            <a:avLst/>
          </a:prstGeom>
          <a:solidFill>
            <a:srgbClr val="0050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400" b="1">
                <a:solidFill>
                  <a:srgbClr val="111827"/>
                </a:solidFill>
                <a:latin typeface="Segoe UI"/>
              </a:defRPr>
            </a:pPr>
            <a:r>
              <a:t>5. Pregunta 5: ¿Qué opinas sobre el aspecto #5 del servicio prestado?</a:t>
            </a:r>
          </a:p>
        </p:txBody>
      </p:sp>
      <p:sp>
        <p:nvSpPr>
          <p:cNvPr id="4" name="Rounded Rectangle 3"/>
          <p:cNvSpPr/>
          <p:nvPr/>
        </p:nvSpPr>
        <p:spPr>
          <a:xfrm>
            <a:off x="493776" y="1408176"/>
            <a:ext cx="3200400" cy="1828800"/>
          </a:xfrm>
          <a:prstGeom prst="roundRect">
            <a:avLst/>
          </a:prstGeom>
          <a:solidFill>
            <a:srgbClr val="DCDC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371600"/>
            <a:ext cx="3200400" cy="1828800"/>
          </a:xfrm>
          <a:prstGeom prst="roundRect">
            <a:avLst/>
          </a:prstGeom>
          <a:solidFill>
            <a:srgbClr val="FFFFFF"/>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554480"/>
            <a:ext cx="2834640" cy="274320"/>
          </a:xfrm>
          <a:prstGeom prst="rect">
            <a:avLst/>
          </a:prstGeom>
          <a:noFill/>
        </p:spPr>
        <p:txBody>
          <a:bodyPr wrap="none">
            <a:spAutoFit/>
          </a:bodyPr>
          <a:lstStyle/>
          <a:p>
            <a:pPr>
              <a:defRPr sz="1000" b="1">
                <a:solidFill>
                  <a:srgbClr val="6B7280"/>
                </a:solidFill>
                <a:latin typeface="Segoe UI"/>
              </a:defRPr>
            </a:pPr>
            <a:r>
              <a:t>TOP OPCIÓN</a:t>
            </a:r>
          </a:p>
        </p:txBody>
      </p:sp>
      <p:sp>
        <p:nvSpPr>
          <p:cNvPr id="7" name="TextBox 6"/>
          <p:cNvSpPr txBox="1"/>
          <p:nvPr/>
        </p:nvSpPr>
        <p:spPr>
          <a:xfrm>
            <a:off x="640080" y="1783080"/>
            <a:ext cx="2834640" cy="731520"/>
          </a:xfrm>
          <a:prstGeom prst="rect">
            <a:avLst/>
          </a:prstGeom>
          <a:noFill/>
        </p:spPr>
        <p:txBody>
          <a:bodyPr wrap="square" anchor="t">
            <a:spAutoFit/>
          </a:bodyPr>
          <a:lstStyle/>
          <a:p>
            <a:pPr>
              <a:defRPr sz="1800" b="1">
                <a:solidFill>
                  <a:srgbClr val="00509E"/>
                </a:solidFill>
                <a:latin typeface="Segoe UI"/>
              </a:defRPr>
            </a:pPr>
            <a:r>
              <a:t>Opción favorita 5 (50%)</a:t>
            </a:r>
          </a:p>
        </p:txBody>
      </p:sp>
      <p:sp>
        <p:nvSpPr>
          <p:cNvPr id="8" name="TextBox 7"/>
          <p:cNvSpPr txBox="1"/>
          <p:nvPr/>
        </p:nvSpPr>
        <p:spPr>
          <a:xfrm>
            <a:off x="640080" y="2606040"/>
            <a:ext cx="2834640" cy="274320"/>
          </a:xfrm>
          <a:prstGeom prst="rect">
            <a:avLst/>
          </a:prstGeom>
          <a:noFill/>
        </p:spPr>
        <p:txBody>
          <a:bodyPr wrap="none">
            <a:spAutoFit/>
          </a:bodyPr>
          <a:lstStyle/>
          <a:p>
            <a:pPr>
              <a:defRPr sz="1100">
                <a:solidFill>
                  <a:srgbClr val="EF4444"/>
                </a:solidFill>
                <a:latin typeface="Segoe UI"/>
              </a:defRPr>
            </a:pPr>
            <a:r>
              <a:t>▼ 3.0% vs. periodo ant.</a:t>
            </a:r>
          </a:p>
        </p:txBody>
      </p:sp>
      <p:sp>
        <p:nvSpPr>
          <p:cNvPr id="9" name="Rounded Rectangle 8"/>
          <p:cNvSpPr/>
          <p:nvPr/>
        </p:nvSpPr>
        <p:spPr>
          <a:xfrm>
            <a:off x="4151376" y="1408176"/>
            <a:ext cx="4572000" cy="3200400"/>
          </a:xfrm>
          <a:prstGeom prst="roundRect">
            <a:avLst/>
          </a:prstGeom>
          <a:solidFill>
            <a:srgbClr val="DCDC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114800" y="1371600"/>
            <a:ext cx="4572000" cy="3200400"/>
          </a:xfrm>
          <a:prstGeom prst="roundRect">
            <a:avLst/>
          </a:prstGeom>
          <a:solidFill>
            <a:srgbClr val="FFFFFF"/>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png"/>
          <p:cNvPicPr>
            <a:picLocks noChangeAspect="1"/>
          </p:cNvPicPr>
          <p:nvPr/>
        </p:nvPicPr>
        <p:blipFill>
          <a:blip r:embed="rId2"/>
          <a:stretch>
            <a:fillRect/>
          </a:stretch>
        </p:blipFill>
        <p:spPr>
          <a:xfrm>
            <a:off x="4206240" y="1463040"/>
            <a:ext cx="4389120" cy="3017520"/>
          </a:xfrm>
          <a:prstGeom prst="rect">
            <a:avLst/>
          </a:prstGeom>
        </p:spPr>
      </p:pic>
      <p:sp>
        <p:nvSpPr>
          <p:cNvPr id="12" name="Rounded Rectangle 11"/>
          <p:cNvSpPr/>
          <p:nvPr/>
        </p:nvSpPr>
        <p:spPr>
          <a:xfrm>
            <a:off x="457200" y="4754880"/>
            <a:ext cx="8229600" cy="1463040"/>
          </a:xfrm>
          <a:prstGeom prst="roundRect">
            <a:avLst/>
          </a:prstGeom>
          <a:solidFill>
            <a:srgbClr val="F2F6FA"/>
          </a:solidFill>
          <a:ln w="12700">
            <a:solidFill>
              <a:srgbClr val="CCDC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4892040"/>
            <a:ext cx="7863840" cy="274320"/>
          </a:xfrm>
          <a:prstGeom prst="rect">
            <a:avLst/>
          </a:prstGeom>
          <a:noFill/>
        </p:spPr>
        <p:txBody>
          <a:bodyPr wrap="none">
            <a:spAutoFit/>
          </a:bodyPr>
          <a:lstStyle/>
          <a:p>
            <a:pPr>
              <a:defRPr sz="900" b="1">
                <a:solidFill>
                  <a:srgbClr val="00509E"/>
                </a:solidFill>
                <a:latin typeface="Segoe UI"/>
              </a:defRPr>
            </a:pPr>
            <a:r>
              <a:t>ANALISIS INTELIGENTE</a:t>
            </a:r>
          </a:p>
        </p:txBody>
      </p:sp>
      <p:sp>
        <p:nvSpPr>
          <p:cNvPr id="14" name="TextBox 13"/>
          <p:cNvSpPr txBox="1"/>
          <p:nvPr/>
        </p:nvSpPr>
        <p:spPr>
          <a:xfrm>
            <a:off x="640080" y="5120640"/>
            <a:ext cx="7863840" cy="960120"/>
          </a:xfrm>
          <a:prstGeom prst="rect">
            <a:avLst/>
          </a:prstGeom>
          <a:noFill/>
        </p:spPr>
        <p:txBody>
          <a:bodyPr wrap="square">
            <a:spAutoFit/>
          </a:bodyPr>
          <a:lstStyle/>
          <a:p>
            <a:pPr algn="just">
              <a:defRPr sz="1100" i="1">
                <a:solidFill>
                  <a:srgbClr val="111827"/>
                </a:solidFill>
                <a:latin typeface="Segoe UI"/>
              </a:defRPr>
            </a:pPr>
            <a:r>
              <a:t>Esta es una narrativa muy larga para la pregunta 5 que debe ajustarse correctamente dentro de la caja de narrativa sin desbordar los márgenes de la diapositiva. Incluye análisis detallado de tendencias y recomendaciones específicas para mejorar la experiencia del usuario.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37160" cy="6858000"/>
          </a:xfrm>
          <a:prstGeom prst="rect">
            <a:avLst/>
          </a:prstGeom>
          <a:solidFill>
            <a:srgbClr val="0050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400" b="1">
                <a:solidFill>
                  <a:srgbClr val="111827"/>
                </a:solidFill>
                <a:latin typeface="Segoe UI"/>
              </a:defRPr>
            </a:pPr>
            <a:r>
              <a:t>6. Pregunta 6: ¿Qué opinas sobre el aspecto #6 del servicio prestado?</a:t>
            </a:r>
          </a:p>
        </p:txBody>
      </p:sp>
      <p:sp>
        <p:nvSpPr>
          <p:cNvPr id="4" name="Rounded Rectangle 3"/>
          <p:cNvSpPr/>
          <p:nvPr/>
        </p:nvSpPr>
        <p:spPr>
          <a:xfrm>
            <a:off x="493776" y="1408176"/>
            <a:ext cx="3200400" cy="1828800"/>
          </a:xfrm>
          <a:prstGeom prst="roundRect">
            <a:avLst/>
          </a:prstGeom>
          <a:solidFill>
            <a:srgbClr val="DCDC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371600"/>
            <a:ext cx="3200400" cy="1828800"/>
          </a:xfrm>
          <a:prstGeom prst="roundRect">
            <a:avLst/>
          </a:prstGeom>
          <a:solidFill>
            <a:srgbClr val="FFFFFF"/>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554480"/>
            <a:ext cx="2834640" cy="274320"/>
          </a:xfrm>
          <a:prstGeom prst="rect">
            <a:avLst/>
          </a:prstGeom>
          <a:noFill/>
        </p:spPr>
        <p:txBody>
          <a:bodyPr wrap="none">
            <a:spAutoFit/>
          </a:bodyPr>
          <a:lstStyle/>
          <a:p>
            <a:pPr>
              <a:defRPr sz="1000" b="1">
                <a:solidFill>
                  <a:srgbClr val="6B7280"/>
                </a:solidFill>
                <a:latin typeface="Segoe UI"/>
              </a:defRPr>
            </a:pPr>
            <a:r>
              <a:t>PROMEDIO</a:t>
            </a:r>
          </a:p>
        </p:txBody>
      </p:sp>
      <p:sp>
        <p:nvSpPr>
          <p:cNvPr id="7" name="TextBox 6"/>
          <p:cNvSpPr txBox="1"/>
          <p:nvPr/>
        </p:nvSpPr>
        <p:spPr>
          <a:xfrm>
            <a:off x="640080" y="1783080"/>
            <a:ext cx="2834640" cy="731520"/>
          </a:xfrm>
          <a:prstGeom prst="rect">
            <a:avLst/>
          </a:prstGeom>
          <a:noFill/>
        </p:spPr>
        <p:txBody>
          <a:bodyPr wrap="square" anchor="t">
            <a:spAutoFit/>
          </a:bodyPr>
          <a:lstStyle/>
          <a:p>
            <a:pPr>
              <a:defRPr sz="4000" b="1">
                <a:solidFill>
                  <a:srgbClr val="00509E"/>
                </a:solidFill>
                <a:latin typeface="Segoe UI"/>
              </a:defRPr>
            </a:pPr>
            <a:r>
              <a:t>7.5</a:t>
            </a:r>
          </a:p>
        </p:txBody>
      </p:sp>
      <p:sp>
        <p:nvSpPr>
          <p:cNvPr id="8" name="TextBox 7"/>
          <p:cNvSpPr txBox="1"/>
          <p:nvPr/>
        </p:nvSpPr>
        <p:spPr>
          <a:xfrm>
            <a:off x="640080" y="2423160"/>
            <a:ext cx="2834640" cy="274320"/>
          </a:xfrm>
          <a:prstGeom prst="rect">
            <a:avLst/>
          </a:prstGeom>
          <a:noFill/>
        </p:spPr>
        <p:txBody>
          <a:bodyPr wrap="none">
            <a:spAutoFit/>
          </a:bodyPr>
          <a:lstStyle/>
          <a:p>
            <a:pPr>
              <a:defRPr sz="1100">
                <a:solidFill>
                  <a:srgbClr val="10B981"/>
                </a:solidFill>
                <a:latin typeface="Segoe UI"/>
              </a:defRPr>
            </a:pPr>
            <a:r>
              <a:t>▲ 5.0% vs. periodo ant.</a:t>
            </a:r>
          </a:p>
        </p:txBody>
      </p:sp>
      <p:sp>
        <p:nvSpPr>
          <p:cNvPr id="9" name="Rounded Rectangle 8"/>
          <p:cNvSpPr/>
          <p:nvPr/>
        </p:nvSpPr>
        <p:spPr>
          <a:xfrm>
            <a:off x="4151376" y="1408176"/>
            <a:ext cx="4572000" cy="3200400"/>
          </a:xfrm>
          <a:prstGeom prst="roundRect">
            <a:avLst/>
          </a:prstGeom>
          <a:solidFill>
            <a:srgbClr val="DCDC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114800" y="1371600"/>
            <a:ext cx="4572000" cy="3200400"/>
          </a:xfrm>
          <a:prstGeom prst="roundRect">
            <a:avLst/>
          </a:prstGeom>
          <a:solidFill>
            <a:srgbClr val="FFFFFF"/>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png"/>
          <p:cNvPicPr>
            <a:picLocks noChangeAspect="1"/>
          </p:cNvPicPr>
          <p:nvPr/>
        </p:nvPicPr>
        <p:blipFill>
          <a:blip r:embed="rId2"/>
          <a:stretch>
            <a:fillRect/>
          </a:stretch>
        </p:blipFill>
        <p:spPr>
          <a:xfrm>
            <a:off x="4206240" y="1463040"/>
            <a:ext cx="4389120" cy="3017520"/>
          </a:xfrm>
          <a:prstGeom prst="rect">
            <a:avLst/>
          </a:prstGeom>
        </p:spPr>
      </p:pic>
      <p:sp>
        <p:nvSpPr>
          <p:cNvPr id="12" name="Rounded Rectangle 11"/>
          <p:cNvSpPr/>
          <p:nvPr/>
        </p:nvSpPr>
        <p:spPr>
          <a:xfrm>
            <a:off x="457200" y="4754880"/>
            <a:ext cx="8229600" cy="1463040"/>
          </a:xfrm>
          <a:prstGeom prst="roundRect">
            <a:avLst/>
          </a:prstGeom>
          <a:solidFill>
            <a:srgbClr val="F2F6FA"/>
          </a:solidFill>
          <a:ln w="12700">
            <a:solidFill>
              <a:srgbClr val="CCDC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4892040"/>
            <a:ext cx="7863840" cy="274320"/>
          </a:xfrm>
          <a:prstGeom prst="rect">
            <a:avLst/>
          </a:prstGeom>
          <a:noFill/>
        </p:spPr>
        <p:txBody>
          <a:bodyPr wrap="none">
            <a:spAutoFit/>
          </a:bodyPr>
          <a:lstStyle/>
          <a:p>
            <a:pPr>
              <a:defRPr sz="900" b="1">
                <a:solidFill>
                  <a:srgbClr val="00509E"/>
                </a:solidFill>
                <a:latin typeface="Segoe UI"/>
              </a:defRPr>
            </a:pPr>
            <a:r>
              <a:t>ANALISIS INTELIGENTE</a:t>
            </a:r>
          </a:p>
        </p:txBody>
      </p:sp>
      <p:sp>
        <p:nvSpPr>
          <p:cNvPr id="14" name="TextBox 13"/>
          <p:cNvSpPr txBox="1"/>
          <p:nvPr/>
        </p:nvSpPr>
        <p:spPr>
          <a:xfrm>
            <a:off x="640080" y="5120640"/>
            <a:ext cx="7863840" cy="960120"/>
          </a:xfrm>
          <a:prstGeom prst="rect">
            <a:avLst/>
          </a:prstGeom>
          <a:noFill/>
        </p:spPr>
        <p:txBody>
          <a:bodyPr wrap="square">
            <a:spAutoFit/>
          </a:bodyPr>
          <a:lstStyle/>
          <a:p>
            <a:pPr algn="just">
              <a:defRPr sz="1100" i="1">
                <a:solidFill>
                  <a:srgbClr val="111827"/>
                </a:solidFill>
                <a:latin typeface="Segoe UI"/>
              </a:defRPr>
            </a:pPr>
            <a:r>
              <a:t>Esta es una narrativa muy larga para la pregunta 6 que debe ajustarse correctamente dentro de la caja de narrativa sin desbordar los márgenes de la diapositiva. Incluye análisis detallado de tendencias y recomendaciones específicas para mejorar la experiencia del usuario.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37160" cy="6858000"/>
          </a:xfrm>
          <a:prstGeom prst="rect">
            <a:avLst/>
          </a:prstGeom>
          <a:solidFill>
            <a:srgbClr val="0050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400" b="1">
                <a:solidFill>
                  <a:srgbClr val="111827"/>
                </a:solidFill>
                <a:latin typeface="Segoe UI"/>
              </a:defRPr>
            </a:pPr>
            <a:r>
              <a:t>7. Pregunta 7: ¿Qué opinas sobre el aspecto #7 del servicio prestado?</a:t>
            </a:r>
          </a:p>
        </p:txBody>
      </p:sp>
      <p:sp>
        <p:nvSpPr>
          <p:cNvPr id="4" name="Rounded Rectangle 3"/>
          <p:cNvSpPr/>
          <p:nvPr/>
        </p:nvSpPr>
        <p:spPr>
          <a:xfrm>
            <a:off x="493776" y="1408176"/>
            <a:ext cx="3200400" cy="1828800"/>
          </a:xfrm>
          <a:prstGeom prst="roundRect">
            <a:avLst/>
          </a:prstGeom>
          <a:solidFill>
            <a:srgbClr val="DCDC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371600"/>
            <a:ext cx="3200400" cy="1828800"/>
          </a:xfrm>
          <a:prstGeom prst="roundRect">
            <a:avLst/>
          </a:prstGeom>
          <a:solidFill>
            <a:srgbClr val="FFFFFF"/>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554480"/>
            <a:ext cx="2834640" cy="274320"/>
          </a:xfrm>
          <a:prstGeom prst="rect">
            <a:avLst/>
          </a:prstGeom>
          <a:noFill/>
        </p:spPr>
        <p:txBody>
          <a:bodyPr wrap="none">
            <a:spAutoFit/>
          </a:bodyPr>
          <a:lstStyle/>
          <a:p>
            <a:pPr>
              <a:defRPr sz="1000" b="1">
                <a:solidFill>
                  <a:srgbClr val="6B7280"/>
                </a:solidFill>
                <a:latin typeface="Segoe UI"/>
              </a:defRPr>
            </a:pPr>
            <a:r>
              <a:t>TOP OPCIÓN</a:t>
            </a:r>
          </a:p>
        </p:txBody>
      </p:sp>
      <p:sp>
        <p:nvSpPr>
          <p:cNvPr id="7" name="TextBox 6"/>
          <p:cNvSpPr txBox="1"/>
          <p:nvPr/>
        </p:nvSpPr>
        <p:spPr>
          <a:xfrm>
            <a:off x="640080" y="1783080"/>
            <a:ext cx="2834640" cy="731520"/>
          </a:xfrm>
          <a:prstGeom prst="rect">
            <a:avLst/>
          </a:prstGeom>
          <a:noFill/>
        </p:spPr>
        <p:txBody>
          <a:bodyPr wrap="square" anchor="t">
            <a:spAutoFit/>
          </a:bodyPr>
          <a:lstStyle/>
          <a:p>
            <a:pPr>
              <a:defRPr sz="1800" b="1">
                <a:solidFill>
                  <a:srgbClr val="00509E"/>
                </a:solidFill>
                <a:latin typeface="Segoe UI"/>
              </a:defRPr>
            </a:pPr>
            <a:r>
              <a:t>Opción favorita 7 (52%)</a:t>
            </a:r>
          </a:p>
        </p:txBody>
      </p:sp>
      <p:sp>
        <p:nvSpPr>
          <p:cNvPr id="8" name="TextBox 7"/>
          <p:cNvSpPr txBox="1"/>
          <p:nvPr/>
        </p:nvSpPr>
        <p:spPr>
          <a:xfrm>
            <a:off x="640080" y="2606040"/>
            <a:ext cx="2834640" cy="274320"/>
          </a:xfrm>
          <a:prstGeom prst="rect">
            <a:avLst/>
          </a:prstGeom>
          <a:noFill/>
        </p:spPr>
        <p:txBody>
          <a:bodyPr wrap="none">
            <a:spAutoFit/>
          </a:bodyPr>
          <a:lstStyle/>
          <a:p>
            <a:pPr>
              <a:defRPr sz="1100">
                <a:solidFill>
                  <a:srgbClr val="EF4444"/>
                </a:solidFill>
                <a:latin typeface="Segoe UI"/>
              </a:defRPr>
            </a:pPr>
            <a:r>
              <a:t>▼ 3.0% vs. periodo ant.</a:t>
            </a:r>
          </a:p>
        </p:txBody>
      </p:sp>
      <p:sp>
        <p:nvSpPr>
          <p:cNvPr id="9" name="Rounded Rectangle 8"/>
          <p:cNvSpPr/>
          <p:nvPr/>
        </p:nvSpPr>
        <p:spPr>
          <a:xfrm>
            <a:off x="4151376" y="1408176"/>
            <a:ext cx="4572000" cy="3200400"/>
          </a:xfrm>
          <a:prstGeom prst="roundRect">
            <a:avLst/>
          </a:prstGeom>
          <a:solidFill>
            <a:srgbClr val="DCDC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114800" y="1371600"/>
            <a:ext cx="4572000" cy="3200400"/>
          </a:xfrm>
          <a:prstGeom prst="roundRect">
            <a:avLst/>
          </a:prstGeom>
          <a:solidFill>
            <a:srgbClr val="FFFFFF"/>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png"/>
          <p:cNvPicPr>
            <a:picLocks noChangeAspect="1"/>
          </p:cNvPicPr>
          <p:nvPr/>
        </p:nvPicPr>
        <p:blipFill>
          <a:blip r:embed="rId2"/>
          <a:stretch>
            <a:fillRect/>
          </a:stretch>
        </p:blipFill>
        <p:spPr>
          <a:xfrm>
            <a:off x="4206240" y="1463040"/>
            <a:ext cx="4389120" cy="3017520"/>
          </a:xfrm>
          <a:prstGeom prst="rect">
            <a:avLst/>
          </a:prstGeom>
        </p:spPr>
      </p:pic>
      <p:sp>
        <p:nvSpPr>
          <p:cNvPr id="12" name="Rounded Rectangle 11"/>
          <p:cNvSpPr/>
          <p:nvPr/>
        </p:nvSpPr>
        <p:spPr>
          <a:xfrm>
            <a:off x="457200" y="4754880"/>
            <a:ext cx="8229600" cy="1463040"/>
          </a:xfrm>
          <a:prstGeom prst="roundRect">
            <a:avLst/>
          </a:prstGeom>
          <a:solidFill>
            <a:srgbClr val="F2F6FA"/>
          </a:solidFill>
          <a:ln w="12700">
            <a:solidFill>
              <a:srgbClr val="CCDC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4892040"/>
            <a:ext cx="7863840" cy="274320"/>
          </a:xfrm>
          <a:prstGeom prst="rect">
            <a:avLst/>
          </a:prstGeom>
          <a:noFill/>
        </p:spPr>
        <p:txBody>
          <a:bodyPr wrap="none">
            <a:spAutoFit/>
          </a:bodyPr>
          <a:lstStyle/>
          <a:p>
            <a:pPr>
              <a:defRPr sz="900" b="1">
                <a:solidFill>
                  <a:srgbClr val="00509E"/>
                </a:solidFill>
                <a:latin typeface="Segoe UI"/>
              </a:defRPr>
            </a:pPr>
            <a:r>
              <a:t>ANALISIS INTELIGENTE</a:t>
            </a:r>
          </a:p>
        </p:txBody>
      </p:sp>
      <p:sp>
        <p:nvSpPr>
          <p:cNvPr id="14" name="TextBox 13"/>
          <p:cNvSpPr txBox="1"/>
          <p:nvPr/>
        </p:nvSpPr>
        <p:spPr>
          <a:xfrm>
            <a:off x="640080" y="5120640"/>
            <a:ext cx="7863840" cy="960120"/>
          </a:xfrm>
          <a:prstGeom prst="rect">
            <a:avLst/>
          </a:prstGeom>
          <a:noFill/>
        </p:spPr>
        <p:txBody>
          <a:bodyPr wrap="square">
            <a:spAutoFit/>
          </a:bodyPr>
          <a:lstStyle/>
          <a:p>
            <a:pPr algn="just">
              <a:defRPr sz="1100" i="1">
                <a:solidFill>
                  <a:srgbClr val="111827"/>
                </a:solidFill>
                <a:latin typeface="Segoe UI"/>
              </a:defRPr>
            </a:pPr>
            <a:r>
              <a:t>Esta es una narrativa muy larga para la pregunta 7 que debe ajustarse correctamente dentro de la caja de narrativa sin desbordar los márgenes de la diapositiva. Incluye análisis detallado de tendencias y recomendaciones específicas para mejorar la experiencia del usuario.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37160" cy="6858000"/>
          </a:xfrm>
          <a:prstGeom prst="rect">
            <a:avLst/>
          </a:prstGeom>
          <a:solidFill>
            <a:srgbClr val="0050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400" b="1">
                <a:solidFill>
                  <a:srgbClr val="111827"/>
                </a:solidFill>
                <a:latin typeface="Segoe UI"/>
              </a:defRPr>
            </a:pPr>
            <a:r>
              <a:t>8. Pregunta 8: ¿Qué opinas sobre el aspecto #8 del servicio prestado?</a:t>
            </a:r>
          </a:p>
        </p:txBody>
      </p:sp>
      <p:sp>
        <p:nvSpPr>
          <p:cNvPr id="4" name="Rounded Rectangle 3"/>
          <p:cNvSpPr/>
          <p:nvPr/>
        </p:nvSpPr>
        <p:spPr>
          <a:xfrm>
            <a:off x="493776" y="1408176"/>
            <a:ext cx="3200400" cy="1828800"/>
          </a:xfrm>
          <a:prstGeom prst="roundRect">
            <a:avLst/>
          </a:prstGeom>
          <a:solidFill>
            <a:srgbClr val="DCDC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371600"/>
            <a:ext cx="3200400" cy="1828800"/>
          </a:xfrm>
          <a:prstGeom prst="roundRect">
            <a:avLst/>
          </a:prstGeom>
          <a:solidFill>
            <a:srgbClr val="FFFFFF"/>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554480"/>
            <a:ext cx="2834640" cy="274320"/>
          </a:xfrm>
          <a:prstGeom prst="rect">
            <a:avLst/>
          </a:prstGeom>
          <a:noFill/>
        </p:spPr>
        <p:txBody>
          <a:bodyPr wrap="none">
            <a:spAutoFit/>
          </a:bodyPr>
          <a:lstStyle/>
          <a:p>
            <a:pPr>
              <a:defRPr sz="1000" b="1">
                <a:solidFill>
                  <a:srgbClr val="6B7280"/>
                </a:solidFill>
                <a:latin typeface="Segoe UI"/>
              </a:defRPr>
            </a:pPr>
            <a:r>
              <a:t>TOP OPCIÓN</a:t>
            </a:r>
          </a:p>
        </p:txBody>
      </p:sp>
      <p:sp>
        <p:nvSpPr>
          <p:cNvPr id="7" name="TextBox 6"/>
          <p:cNvSpPr txBox="1"/>
          <p:nvPr/>
        </p:nvSpPr>
        <p:spPr>
          <a:xfrm>
            <a:off x="640080" y="1783080"/>
            <a:ext cx="2834640" cy="731520"/>
          </a:xfrm>
          <a:prstGeom prst="rect">
            <a:avLst/>
          </a:prstGeom>
          <a:noFill/>
        </p:spPr>
        <p:txBody>
          <a:bodyPr wrap="square" anchor="t">
            <a:spAutoFit/>
          </a:bodyPr>
          <a:lstStyle/>
          <a:p>
            <a:pPr>
              <a:defRPr sz="1800" b="1">
                <a:solidFill>
                  <a:srgbClr val="00509E"/>
                </a:solidFill>
                <a:latin typeface="Segoe UI"/>
              </a:defRPr>
            </a:pPr>
            <a:r>
              <a:t>Opción favorita 8 (53%)</a:t>
            </a:r>
          </a:p>
        </p:txBody>
      </p:sp>
      <p:sp>
        <p:nvSpPr>
          <p:cNvPr id="8" name="TextBox 7"/>
          <p:cNvSpPr txBox="1"/>
          <p:nvPr/>
        </p:nvSpPr>
        <p:spPr>
          <a:xfrm>
            <a:off x="640080" y="2606040"/>
            <a:ext cx="2834640" cy="274320"/>
          </a:xfrm>
          <a:prstGeom prst="rect">
            <a:avLst/>
          </a:prstGeom>
          <a:noFill/>
        </p:spPr>
        <p:txBody>
          <a:bodyPr wrap="none">
            <a:spAutoFit/>
          </a:bodyPr>
          <a:lstStyle/>
          <a:p>
            <a:pPr>
              <a:defRPr sz="1100">
                <a:solidFill>
                  <a:srgbClr val="10B981"/>
                </a:solidFill>
                <a:latin typeface="Segoe UI"/>
              </a:defRPr>
            </a:pPr>
            <a:r>
              <a:t>▲ 5.0% vs. periodo ant.</a:t>
            </a:r>
          </a:p>
        </p:txBody>
      </p:sp>
      <p:sp>
        <p:nvSpPr>
          <p:cNvPr id="9" name="Rounded Rectangle 8"/>
          <p:cNvSpPr/>
          <p:nvPr/>
        </p:nvSpPr>
        <p:spPr>
          <a:xfrm>
            <a:off x="4151376" y="1408176"/>
            <a:ext cx="4572000" cy="3200400"/>
          </a:xfrm>
          <a:prstGeom prst="roundRect">
            <a:avLst/>
          </a:prstGeom>
          <a:solidFill>
            <a:srgbClr val="DCDC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114800" y="1371600"/>
            <a:ext cx="4572000" cy="3200400"/>
          </a:xfrm>
          <a:prstGeom prst="roundRect">
            <a:avLst/>
          </a:prstGeom>
          <a:solidFill>
            <a:srgbClr val="FFFFFF"/>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png"/>
          <p:cNvPicPr>
            <a:picLocks noChangeAspect="1"/>
          </p:cNvPicPr>
          <p:nvPr/>
        </p:nvPicPr>
        <p:blipFill>
          <a:blip r:embed="rId2"/>
          <a:stretch>
            <a:fillRect/>
          </a:stretch>
        </p:blipFill>
        <p:spPr>
          <a:xfrm>
            <a:off x="4206240" y="1463040"/>
            <a:ext cx="4389120" cy="3017520"/>
          </a:xfrm>
          <a:prstGeom prst="rect">
            <a:avLst/>
          </a:prstGeom>
        </p:spPr>
      </p:pic>
      <p:sp>
        <p:nvSpPr>
          <p:cNvPr id="12" name="Rounded Rectangle 11"/>
          <p:cNvSpPr/>
          <p:nvPr/>
        </p:nvSpPr>
        <p:spPr>
          <a:xfrm>
            <a:off x="457200" y="4754880"/>
            <a:ext cx="8229600" cy="1463040"/>
          </a:xfrm>
          <a:prstGeom prst="roundRect">
            <a:avLst/>
          </a:prstGeom>
          <a:solidFill>
            <a:srgbClr val="F2F6FA"/>
          </a:solidFill>
          <a:ln w="12700">
            <a:solidFill>
              <a:srgbClr val="CCDC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4892040"/>
            <a:ext cx="7863840" cy="274320"/>
          </a:xfrm>
          <a:prstGeom prst="rect">
            <a:avLst/>
          </a:prstGeom>
          <a:noFill/>
        </p:spPr>
        <p:txBody>
          <a:bodyPr wrap="none">
            <a:spAutoFit/>
          </a:bodyPr>
          <a:lstStyle/>
          <a:p>
            <a:pPr>
              <a:defRPr sz="900" b="1">
                <a:solidFill>
                  <a:srgbClr val="00509E"/>
                </a:solidFill>
                <a:latin typeface="Segoe UI"/>
              </a:defRPr>
            </a:pPr>
            <a:r>
              <a:t>ANALISIS INTELIGENTE</a:t>
            </a:r>
          </a:p>
        </p:txBody>
      </p:sp>
      <p:sp>
        <p:nvSpPr>
          <p:cNvPr id="14" name="TextBox 13"/>
          <p:cNvSpPr txBox="1"/>
          <p:nvPr/>
        </p:nvSpPr>
        <p:spPr>
          <a:xfrm>
            <a:off x="640080" y="5120640"/>
            <a:ext cx="7863840" cy="960120"/>
          </a:xfrm>
          <a:prstGeom prst="rect">
            <a:avLst/>
          </a:prstGeom>
          <a:noFill/>
        </p:spPr>
        <p:txBody>
          <a:bodyPr wrap="square">
            <a:spAutoFit/>
          </a:bodyPr>
          <a:lstStyle/>
          <a:p>
            <a:pPr algn="just">
              <a:defRPr sz="1100" i="1">
                <a:solidFill>
                  <a:srgbClr val="111827"/>
                </a:solidFill>
                <a:latin typeface="Segoe UI"/>
              </a:defRPr>
            </a:pPr>
            <a:r>
              <a:t>Esta es una narrativa muy larga para la pregunta 8 que debe ajustarse correctamente dentro de la caja de narrativa sin desbordar los márgenes de la diapositiva. Incluye análisis detallado de tendencias y recomendaciones específicas para mejorar la experiencia del usuario.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37160" cy="6858000"/>
          </a:xfrm>
          <a:prstGeom prst="rect">
            <a:avLst/>
          </a:prstGeom>
          <a:solidFill>
            <a:srgbClr val="0050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400" b="1">
                <a:solidFill>
                  <a:srgbClr val="111827"/>
                </a:solidFill>
                <a:latin typeface="Segoe UI"/>
              </a:defRPr>
            </a:pPr>
            <a:r>
              <a:t>9. Pregunta 9: ¿Qué opinas sobre el aspecto #9 del servicio prestado?</a:t>
            </a:r>
          </a:p>
        </p:txBody>
      </p:sp>
      <p:sp>
        <p:nvSpPr>
          <p:cNvPr id="4" name="Rounded Rectangle 3"/>
          <p:cNvSpPr/>
          <p:nvPr/>
        </p:nvSpPr>
        <p:spPr>
          <a:xfrm>
            <a:off x="493776" y="1408176"/>
            <a:ext cx="3200400" cy="1828800"/>
          </a:xfrm>
          <a:prstGeom prst="roundRect">
            <a:avLst/>
          </a:prstGeom>
          <a:solidFill>
            <a:srgbClr val="DCDC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371600"/>
            <a:ext cx="3200400" cy="1828800"/>
          </a:xfrm>
          <a:prstGeom prst="roundRect">
            <a:avLst/>
          </a:prstGeom>
          <a:solidFill>
            <a:srgbClr val="FFFFFF"/>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554480"/>
            <a:ext cx="2834640" cy="274320"/>
          </a:xfrm>
          <a:prstGeom prst="rect">
            <a:avLst/>
          </a:prstGeom>
          <a:noFill/>
        </p:spPr>
        <p:txBody>
          <a:bodyPr wrap="none">
            <a:spAutoFit/>
          </a:bodyPr>
          <a:lstStyle/>
          <a:p>
            <a:pPr>
              <a:defRPr sz="1000" b="1">
                <a:solidFill>
                  <a:srgbClr val="6B7280"/>
                </a:solidFill>
                <a:latin typeface="Segoe UI"/>
              </a:defRPr>
            </a:pPr>
            <a:r>
              <a:t>PROMEDIO</a:t>
            </a:r>
          </a:p>
        </p:txBody>
      </p:sp>
      <p:sp>
        <p:nvSpPr>
          <p:cNvPr id="7" name="TextBox 6"/>
          <p:cNvSpPr txBox="1"/>
          <p:nvPr/>
        </p:nvSpPr>
        <p:spPr>
          <a:xfrm>
            <a:off x="640080" y="1783080"/>
            <a:ext cx="2834640" cy="731520"/>
          </a:xfrm>
          <a:prstGeom prst="rect">
            <a:avLst/>
          </a:prstGeom>
          <a:noFill/>
        </p:spPr>
        <p:txBody>
          <a:bodyPr wrap="square" anchor="t">
            <a:spAutoFit/>
          </a:bodyPr>
          <a:lstStyle/>
          <a:p>
            <a:pPr>
              <a:defRPr sz="4000" b="1">
                <a:solidFill>
                  <a:srgbClr val="00509E"/>
                </a:solidFill>
                <a:latin typeface="Segoe UI"/>
              </a:defRPr>
            </a:pPr>
            <a:r>
              <a:t>7.5</a:t>
            </a:r>
          </a:p>
        </p:txBody>
      </p:sp>
      <p:sp>
        <p:nvSpPr>
          <p:cNvPr id="8" name="TextBox 7"/>
          <p:cNvSpPr txBox="1"/>
          <p:nvPr/>
        </p:nvSpPr>
        <p:spPr>
          <a:xfrm>
            <a:off x="640080" y="2423160"/>
            <a:ext cx="2834640" cy="274320"/>
          </a:xfrm>
          <a:prstGeom prst="rect">
            <a:avLst/>
          </a:prstGeom>
          <a:noFill/>
        </p:spPr>
        <p:txBody>
          <a:bodyPr wrap="none">
            <a:spAutoFit/>
          </a:bodyPr>
          <a:lstStyle/>
          <a:p>
            <a:pPr>
              <a:defRPr sz="1100">
                <a:solidFill>
                  <a:srgbClr val="EF4444"/>
                </a:solidFill>
                <a:latin typeface="Segoe UI"/>
              </a:defRPr>
            </a:pPr>
            <a:r>
              <a:t>▼ 3.0% vs. periodo ant.</a:t>
            </a:r>
          </a:p>
        </p:txBody>
      </p:sp>
      <p:sp>
        <p:nvSpPr>
          <p:cNvPr id="9" name="Rounded Rectangle 8"/>
          <p:cNvSpPr/>
          <p:nvPr/>
        </p:nvSpPr>
        <p:spPr>
          <a:xfrm>
            <a:off x="4151376" y="1408176"/>
            <a:ext cx="4572000" cy="3200400"/>
          </a:xfrm>
          <a:prstGeom prst="roundRect">
            <a:avLst/>
          </a:prstGeom>
          <a:solidFill>
            <a:srgbClr val="DCDC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114800" y="1371600"/>
            <a:ext cx="4572000" cy="3200400"/>
          </a:xfrm>
          <a:prstGeom prst="roundRect">
            <a:avLst/>
          </a:prstGeom>
          <a:solidFill>
            <a:srgbClr val="FFFFFF"/>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png"/>
          <p:cNvPicPr>
            <a:picLocks noChangeAspect="1"/>
          </p:cNvPicPr>
          <p:nvPr/>
        </p:nvPicPr>
        <p:blipFill>
          <a:blip r:embed="rId2"/>
          <a:stretch>
            <a:fillRect/>
          </a:stretch>
        </p:blipFill>
        <p:spPr>
          <a:xfrm>
            <a:off x="4206240" y="1463040"/>
            <a:ext cx="4389120" cy="3017520"/>
          </a:xfrm>
          <a:prstGeom prst="rect">
            <a:avLst/>
          </a:prstGeom>
        </p:spPr>
      </p:pic>
      <p:sp>
        <p:nvSpPr>
          <p:cNvPr id="12" name="Rounded Rectangle 11"/>
          <p:cNvSpPr/>
          <p:nvPr/>
        </p:nvSpPr>
        <p:spPr>
          <a:xfrm>
            <a:off x="457200" y="4754880"/>
            <a:ext cx="8229600" cy="1463040"/>
          </a:xfrm>
          <a:prstGeom prst="roundRect">
            <a:avLst/>
          </a:prstGeom>
          <a:solidFill>
            <a:srgbClr val="F2F6FA"/>
          </a:solidFill>
          <a:ln w="12700">
            <a:solidFill>
              <a:srgbClr val="CCDC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4892040"/>
            <a:ext cx="7863840" cy="274320"/>
          </a:xfrm>
          <a:prstGeom prst="rect">
            <a:avLst/>
          </a:prstGeom>
          <a:noFill/>
        </p:spPr>
        <p:txBody>
          <a:bodyPr wrap="none">
            <a:spAutoFit/>
          </a:bodyPr>
          <a:lstStyle/>
          <a:p>
            <a:pPr>
              <a:defRPr sz="900" b="1">
                <a:solidFill>
                  <a:srgbClr val="00509E"/>
                </a:solidFill>
                <a:latin typeface="Segoe UI"/>
              </a:defRPr>
            </a:pPr>
            <a:r>
              <a:t>ANALISIS INTELIGENTE</a:t>
            </a:r>
          </a:p>
        </p:txBody>
      </p:sp>
      <p:sp>
        <p:nvSpPr>
          <p:cNvPr id="14" name="TextBox 13"/>
          <p:cNvSpPr txBox="1"/>
          <p:nvPr/>
        </p:nvSpPr>
        <p:spPr>
          <a:xfrm>
            <a:off x="640080" y="5120640"/>
            <a:ext cx="7863840" cy="960120"/>
          </a:xfrm>
          <a:prstGeom prst="rect">
            <a:avLst/>
          </a:prstGeom>
          <a:noFill/>
        </p:spPr>
        <p:txBody>
          <a:bodyPr wrap="square">
            <a:spAutoFit/>
          </a:bodyPr>
          <a:lstStyle/>
          <a:p>
            <a:pPr algn="just">
              <a:defRPr sz="1100" i="1">
                <a:solidFill>
                  <a:srgbClr val="111827"/>
                </a:solidFill>
                <a:latin typeface="Segoe UI"/>
              </a:defRPr>
            </a:pPr>
            <a:r>
              <a:t>Esta es una narrativa muy larga para la pregunta 9 que debe ajustarse correctamente dentro de la caja de narrativa sin desbordar los márgenes de la diapositiva. Incluye análisis detallado de tendencias y recomendaciones específicas para mejorar la experiencia del usuario.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37160" cy="6858000"/>
          </a:xfrm>
          <a:prstGeom prst="rect">
            <a:avLst/>
          </a:prstGeom>
          <a:solidFill>
            <a:srgbClr val="0050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400" b="1">
                <a:solidFill>
                  <a:srgbClr val="111827"/>
                </a:solidFill>
                <a:latin typeface="Segoe UI"/>
              </a:defRPr>
            </a:pPr>
            <a:r>
              <a:t>10. Pregunta 10: ¿Qué opinas sobre el aspecto #10 del servicio prestado?</a:t>
            </a:r>
          </a:p>
        </p:txBody>
      </p:sp>
      <p:sp>
        <p:nvSpPr>
          <p:cNvPr id="4" name="Rounded Rectangle 3"/>
          <p:cNvSpPr/>
          <p:nvPr/>
        </p:nvSpPr>
        <p:spPr>
          <a:xfrm>
            <a:off x="493776" y="1408176"/>
            <a:ext cx="3200400" cy="1828800"/>
          </a:xfrm>
          <a:prstGeom prst="roundRect">
            <a:avLst/>
          </a:prstGeom>
          <a:solidFill>
            <a:srgbClr val="DCDC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371600"/>
            <a:ext cx="3200400" cy="1828800"/>
          </a:xfrm>
          <a:prstGeom prst="roundRect">
            <a:avLst/>
          </a:prstGeom>
          <a:solidFill>
            <a:srgbClr val="FFFFFF"/>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554480"/>
            <a:ext cx="2834640" cy="274320"/>
          </a:xfrm>
          <a:prstGeom prst="rect">
            <a:avLst/>
          </a:prstGeom>
          <a:noFill/>
        </p:spPr>
        <p:txBody>
          <a:bodyPr wrap="none">
            <a:spAutoFit/>
          </a:bodyPr>
          <a:lstStyle/>
          <a:p>
            <a:pPr>
              <a:defRPr sz="1000" b="1">
                <a:solidFill>
                  <a:srgbClr val="6B7280"/>
                </a:solidFill>
                <a:latin typeface="Segoe UI"/>
              </a:defRPr>
            </a:pPr>
            <a:r>
              <a:t>TOP OPCIÓN</a:t>
            </a:r>
          </a:p>
        </p:txBody>
      </p:sp>
      <p:sp>
        <p:nvSpPr>
          <p:cNvPr id="7" name="TextBox 6"/>
          <p:cNvSpPr txBox="1"/>
          <p:nvPr/>
        </p:nvSpPr>
        <p:spPr>
          <a:xfrm>
            <a:off x="640080" y="1783080"/>
            <a:ext cx="2834640" cy="731520"/>
          </a:xfrm>
          <a:prstGeom prst="rect">
            <a:avLst/>
          </a:prstGeom>
          <a:noFill/>
        </p:spPr>
        <p:txBody>
          <a:bodyPr wrap="square" anchor="t">
            <a:spAutoFit/>
          </a:bodyPr>
          <a:lstStyle/>
          <a:p>
            <a:pPr>
              <a:defRPr sz="1800" b="1">
                <a:solidFill>
                  <a:srgbClr val="00509E"/>
                </a:solidFill>
                <a:latin typeface="Segoe UI"/>
              </a:defRPr>
            </a:pPr>
            <a:r>
              <a:t>Opción favorita 10 (55%)</a:t>
            </a:r>
          </a:p>
        </p:txBody>
      </p:sp>
      <p:sp>
        <p:nvSpPr>
          <p:cNvPr id="8" name="TextBox 7"/>
          <p:cNvSpPr txBox="1"/>
          <p:nvPr/>
        </p:nvSpPr>
        <p:spPr>
          <a:xfrm>
            <a:off x="640080" y="2606040"/>
            <a:ext cx="2834640" cy="274320"/>
          </a:xfrm>
          <a:prstGeom prst="rect">
            <a:avLst/>
          </a:prstGeom>
          <a:noFill/>
        </p:spPr>
        <p:txBody>
          <a:bodyPr wrap="none">
            <a:spAutoFit/>
          </a:bodyPr>
          <a:lstStyle/>
          <a:p>
            <a:pPr>
              <a:defRPr sz="1100">
                <a:solidFill>
                  <a:srgbClr val="10B981"/>
                </a:solidFill>
                <a:latin typeface="Segoe UI"/>
              </a:defRPr>
            </a:pPr>
            <a:r>
              <a:t>▲ 5.0% vs. periodo ant.</a:t>
            </a:r>
          </a:p>
        </p:txBody>
      </p:sp>
      <p:sp>
        <p:nvSpPr>
          <p:cNvPr id="9" name="Rounded Rectangle 8"/>
          <p:cNvSpPr/>
          <p:nvPr/>
        </p:nvSpPr>
        <p:spPr>
          <a:xfrm>
            <a:off x="4151376" y="1408176"/>
            <a:ext cx="4572000" cy="3200400"/>
          </a:xfrm>
          <a:prstGeom prst="roundRect">
            <a:avLst/>
          </a:prstGeom>
          <a:solidFill>
            <a:srgbClr val="DCDC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114800" y="1371600"/>
            <a:ext cx="4572000" cy="3200400"/>
          </a:xfrm>
          <a:prstGeom prst="roundRect">
            <a:avLst/>
          </a:prstGeom>
          <a:solidFill>
            <a:srgbClr val="FFFFFF"/>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png"/>
          <p:cNvPicPr>
            <a:picLocks noChangeAspect="1"/>
          </p:cNvPicPr>
          <p:nvPr/>
        </p:nvPicPr>
        <p:blipFill>
          <a:blip r:embed="rId2"/>
          <a:stretch>
            <a:fillRect/>
          </a:stretch>
        </p:blipFill>
        <p:spPr>
          <a:xfrm>
            <a:off x="4206240" y="1463040"/>
            <a:ext cx="4389120" cy="3017520"/>
          </a:xfrm>
          <a:prstGeom prst="rect">
            <a:avLst/>
          </a:prstGeom>
        </p:spPr>
      </p:pic>
      <p:sp>
        <p:nvSpPr>
          <p:cNvPr id="12" name="Rounded Rectangle 11"/>
          <p:cNvSpPr/>
          <p:nvPr/>
        </p:nvSpPr>
        <p:spPr>
          <a:xfrm>
            <a:off x="457200" y="4754880"/>
            <a:ext cx="8229600" cy="1463040"/>
          </a:xfrm>
          <a:prstGeom prst="roundRect">
            <a:avLst/>
          </a:prstGeom>
          <a:solidFill>
            <a:srgbClr val="F2F6FA"/>
          </a:solidFill>
          <a:ln w="12700">
            <a:solidFill>
              <a:srgbClr val="CCDC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4892040"/>
            <a:ext cx="7863840" cy="274320"/>
          </a:xfrm>
          <a:prstGeom prst="rect">
            <a:avLst/>
          </a:prstGeom>
          <a:noFill/>
        </p:spPr>
        <p:txBody>
          <a:bodyPr wrap="none">
            <a:spAutoFit/>
          </a:bodyPr>
          <a:lstStyle/>
          <a:p>
            <a:pPr>
              <a:defRPr sz="900" b="1">
                <a:solidFill>
                  <a:srgbClr val="00509E"/>
                </a:solidFill>
                <a:latin typeface="Segoe UI"/>
              </a:defRPr>
            </a:pPr>
            <a:r>
              <a:t>ANALISIS INTELIGENTE</a:t>
            </a:r>
          </a:p>
        </p:txBody>
      </p:sp>
      <p:sp>
        <p:nvSpPr>
          <p:cNvPr id="14" name="TextBox 13"/>
          <p:cNvSpPr txBox="1"/>
          <p:nvPr/>
        </p:nvSpPr>
        <p:spPr>
          <a:xfrm>
            <a:off x="640080" y="5120640"/>
            <a:ext cx="7863840" cy="960120"/>
          </a:xfrm>
          <a:prstGeom prst="rect">
            <a:avLst/>
          </a:prstGeom>
          <a:noFill/>
        </p:spPr>
        <p:txBody>
          <a:bodyPr wrap="square">
            <a:spAutoFit/>
          </a:bodyPr>
          <a:lstStyle/>
          <a:p>
            <a:pPr algn="just">
              <a:defRPr sz="1100" i="1">
                <a:solidFill>
                  <a:srgbClr val="111827"/>
                </a:solidFill>
                <a:latin typeface="Segoe UI"/>
              </a:defRPr>
            </a:pPr>
            <a:r>
              <a:t>Esta es una narrativa muy larga para la pregunta 10 que debe ajustarse correctamente dentro de la caja de narrativa sin desbordar los márgenes de la diapositiva. Incluye análisis detallado de tendencias y recomendaciones específicas para mejorar la experiencia del usuario.</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37160" cy="6858000"/>
          </a:xfrm>
          <a:prstGeom prst="rect">
            <a:avLst/>
          </a:prstGeom>
          <a:solidFill>
            <a:srgbClr val="0050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400" b="1">
                <a:solidFill>
                  <a:srgbClr val="111827"/>
                </a:solidFill>
                <a:latin typeface="Segoe UI"/>
              </a:defRPr>
            </a:pPr>
            <a:r>
              <a:t>11. Pregunta 11: ¿Qué opinas sobre el aspecto #11 del servicio prestado?</a:t>
            </a:r>
          </a:p>
        </p:txBody>
      </p:sp>
      <p:sp>
        <p:nvSpPr>
          <p:cNvPr id="4" name="Rounded Rectangle 3"/>
          <p:cNvSpPr/>
          <p:nvPr/>
        </p:nvSpPr>
        <p:spPr>
          <a:xfrm>
            <a:off x="493776" y="1408176"/>
            <a:ext cx="3200400" cy="1828800"/>
          </a:xfrm>
          <a:prstGeom prst="roundRect">
            <a:avLst/>
          </a:prstGeom>
          <a:solidFill>
            <a:srgbClr val="DCDC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371600"/>
            <a:ext cx="3200400" cy="1828800"/>
          </a:xfrm>
          <a:prstGeom prst="roundRect">
            <a:avLst/>
          </a:prstGeom>
          <a:solidFill>
            <a:srgbClr val="FFFFFF"/>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554480"/>
            <a:ext cx="2834640" cy="274320"/>
          </a:xfrm>
          <a:prstGeom prst="rect">
            <a:avLst/>
          </a:prstGeom>
          <a:noFill/>
        </p:spPr>
        <p:txBody>
          <a:bodyPr wrap="none">
            <a:spAutoFit/>
          </a:bodyPr>
          <a:lstStyle/>
          <a:p>
            <a:pPr>
              <a:defRPr sz="1000" b="1">
                <a:solidFill>
                  <a:srgbClr val="6B7280"/>
                </a:solidFill>
                <a:latin typeface="Segoe UI"/>
              </a:defRPr>
            </a:pPr>
            <a:r>
              <a:t>TOP OPCIÓN</a:t>
            </a:r>
          </a:p>
        </p:txBody>
      </p:sp>
      <p:sp>
        <p:nvSpPr>
          <p:cNvPr id="7" name="TextBox 6"/>
          <p:cNvSpPr txBox="1"/>
          <p:nvPr/>
        </p:nvSpPr>
        <p:spPr>
          <a:xfrm>
            <a:off x="640080" y="1783080"/>
            <a:ext cx="2834640" cy="731520"/>
          </a:xfrm>
          <a:prstGeom prst="rect">
            <a:avLst/>
          </a:prstGeom>
          <a:noFill/>
        </p:spPr>
        <p:txBody>
          <a:bodyPr wrap="square" anchor="t">
            <a:spAutoFit/>
          </a:bodyPr>
          <a:lstStyle/>
          <a:p>
            <a:pPr>
              <a:defRPr sz="1800" b="1">
                <a:solidFill>
                  <a:srgbClr val="00509E"/>
                </a:solidFill>
                <a:latin typeface="Segoe UI"/>
              </a:defRPr>
            </a:pPr>
            <a:r>
              <a:t>Opción favorita 11 (56%)</a:t>
            </a:r>
          </a:p>
        </p:txBody>
      </p:sp>
      <p:sp>
        <p:nvSpPr>
          <p:cNvPr id="8" name="TextBox 7"/>
          <p:cNvSpPr txBox="1"/>
          <p:nvPr/>
        </p:nvSpPr>
        <p:spPr>
          <a:xfrm>
            <a:off x="640080" y="2606040"/>
            <a:ext cx="2834640" cy="274320"/>
          </a:xfrm>
          <a:prstGeom prst="rect">
            <a:avLst/>
          </a:prstGeom>
          <a:noFill/>
        </p:spPr>
        <p:txBody>
          <a:bodyPr wrap="none">
            <a:spAutoFit/>
          </a:bodyPr>
          <a:lstStyle/>
          <a:p>
            <a:pPr>
              <a:defRPr sz="1100">
                <a:solidFill>
                  <a:srgbClr val="EF4444"/>
                </a:solidFill>
                <a:latin typeface="Segoe UI"/>
              </a:defRPr>
            </a:pPr>
            <a:r>
              <a:t>▼ 3.0% vs. periodo ant.</a:t>
            </a:r>
          </a:p>
        </p:txBody>
      </p:sp>
      <p:sp>
        <p:nvSpPr>
          <p:cNvPr id="9" name="Rounded Rectangle 8"/>
          <p:cNvSpPr/>
          <p:nvPr/>
        </p:nvSpPr>
        <p:spPr>
          <a:xfrm>
            <a:off x="4151376" y="1408176"/>
            <a:ext cx="4572000" cy="3200400"/>
          </a:xfrm>
          <a:prstGeom prst="roundRect">
            <a:avLst/>
          </a:prstGeom>
          <a:solidFill>
            <a:srgbClr val="DCDC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114800" y="1371600"/>
            <a:ext cx="4572000" cy="3200400"/>
          </a:xfrm>
          <a:prstGeom prst="roundRect">
            <a:avLst/>
          </a:prstGeom>
          <a:solidFill>
            <a:srgbClr val="FFFFFF"/>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png"/>
          <p:cNvPicPr>
            <a:picLocks noChangeAspect="1"/>
          </p:cNvPicPr>
          <p:nvPr/>
        </p:nvPicPr>
        <p:blipFill>
          <a:blip r:embed="rId2"/>
          <a:stretch>
            <a:fillRect/>
          </a:stretch>
        </p:blipFill>
        <p:spPr>
          <a:xfrm>
            <a:off x="4206240" y="1463040"/>
            <a:ext cx="4389120" cy="3017520"/>
          </a:xfrm>
          <a:prstGeom prst="rect">
            <a:avLst/>
          </a:prstGeom>
        </p:spPr>
      </p:pic>
      <p:sp>
        <p:nvSpPr>
          <p:cNvPr id="12" name="Rounded Rectangle 11"/>
          <p:cNvSpPr/>
          <p:nvPr/>
        </p:nvSpPr>
        <p:spPr>
          <a:xfrm>
            <a:off x="457200" y="4754880"/>
            <a:ext cx="8229600" cy="1463040"/>
          </a:xfrm>
          <a:prstGeom prst="roundRect">
            <a:avLst/>
          </a:prstGeom>
          <a:solidFill>
            <a:srgbClr val="F2F6FA"/>
          </a:solidFill>
          <a:ln w="12700">
            <a:solidFill>
              <a:srgbClr val="CCDC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4892040"/>
            <a:ext cx="7863840" cy="274320"/>
          </a:xfrm>
          <a:prstGeom prst="rect">
            <a:avLst/>
          </a:prstGeom>
          <a:noFill/>
        </p:spPr>
        <p:txBody>
          <a:bodyPr wrap="none">
            <a:spAutoFit/>
          </a:bodyPr>
          <a:lstStyle/>
          <a:p>
            <a:pPr>
              <a:defRPr sz="900" b="1">
                <a:solidFill>
                  <a:srgbClr val="00509E"/>
                </a:solidFill>
                <a:latin typeface="Segoe UI"/>
              </a:defRPr>
            </a:pPr>
            <a:r>
              <a:t>ANALISIS INTELIGENTE</a:t>
            </a:r>
          </a:p>
        </p:txBody>
      </p:sp>
      <p:sp>
        <p:nvSpPr>
          <p:cNvPr id="14" name="TextBox 13"/>
          <p:cNvSpPr txBox="1"/>
          <p:nvPr/>
        </p:nvSpPr>
        <p:spPr>
          <a:xfrm>
            <a:off x="640080" y="5120640"/>
            <a:ext cx="7863840" cy="960120"/>
          </a:xfrm>
          <a:prstGeom prst="rect">
            <a:avLst/>
          </a:prstGeom>
          <a:noFill/>
        </p:spPr>
        <p:txBody>
          <a:bodyPr wrap="square">
            <a:spAutoFit/>
          </a:bodyPr>
          <a:lstStyle/>
          <a:p>
            <a:pPr algn="just">
              <a:defRPr sz="1100" i="1">
                <a:solidFill>
                  <a:srgbClr val="111827"/>
                </a:solidFill>
                <a:latin typeface="Segoe UI"/>
              </a:defRPr>
            </a:pPr>
            <a:r>
              <a:t>Esta es una narrativa muy larga para la pregunta 11 que debe ajustarse correctamente dentro de la caja de narrativa sin desbordar los márgenes de la diapositiva. Incluye análisis detallado de tendencias y recomendaciones específicas para mejorar la experiencia del usuario.</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37160" cy="6858000"/>
          </a:xfrm>
          <a:prstGeom prst="rect">
            <a:avLst/>
          </a:prstGeom>
          <a:solidFill>
            <a:srgbClr val="0050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400" b="1">
                <a:solidFill>
                  <a:srgbClr val="111827"/>
                </a:solidFill>
                <a:latin typeface="Segoe UI"/>
              </a:defRPr>
            </a:pPr>
            <a:r>
              <a:t>12. Pregunta 12: ¿Qué opinas sobre el aspecto #12 del servicio prestado?</a:t>
            </a:r>
          </a:p>
        </p:txBody>
      </p:sp>
      <p:sp>
        <p:nvSpPr>
          <p:cNvPr id="4" name="Rounded Rectangle 3"/>
          <p:cNvSpPr/>
          <p:nvPr/>
        </p:nvSpPr>
        <p:spPr>
          <a:xfrm>
            <a:off x="493776" y="1408176"/>
            <a:ext cx="3200400" cy="1828800"/>
          </a:xfrm>
          <a:prstGeom prst="roundRect">
            <a:avLst/>
          </a:prstGeom>
          <a:solidFill>
            <a:srgbClr val="DCDC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371600"/>
            <a:ext cx="3200400" cy="1828800"/>
          </a:xfrm>
          <a:prstGeom prst="roundRect">
            <a:avLst/>
          </a:prstGeom>
          <a:solidFill>
            <a:srgbClr val="FFFFFF"/>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554480"/>
            <a:ext cx="2834640" cy="274320"/>
          </a:xfrm>
          <a:prstGeom prst="rect">
            <a:avLst/>
          </a:prstGeom>
          <a:noFill/>
        </p:spPr>
        <p:txBody>
          <a:bodyPr wrap="none">
            <a:spAutoFit/>
          </a:bodyPr>
          <a:lstStyle/>
          <a:p>
            <a:pPr>
              <a:defRPr sz="1000" b="1">
                <a:solidFill>
                  <a:srgbClr val="6B7280"/>
                </a:solidFill>
                <a:latin typeface="Segoe UI"/>
              </a:defRPr>
            </a:pPr>
            <a:r>
              <a:t>PROMEDIO</a:t>
            </a:r>
          </a:p>
        </p:txBody>
      </p:sp>
      <p:sp>
        <p:nvSpPr>
          <p:cNvPr id="7" name="TextBox 6"/>
          <p:cNvSpPr txBox="1"/>
          <p:nvPr/>
        </p:nvSpPr>
        <p:spPr>
          <a:xfrm>
            <a:off x="640080" y="1783080"/>
            <a:ext cx="2834640" cy="731520"/>
          </a:xfrm>
          <a:prstGeom prst="rect">
            <a:avLst/>
          </a:prstGeom>
          <a:noFill/>
        </p:spPr>
        <p:txBody>
          <a:bodyPr wrap="square" anchor="t">
            <a:spAutoFit/>
          </a:bodyPr>
          <a:lstStyle/>
          <a:p>
            <a:pPr>
              <a:defRPr sz="4000" b="1">
                <a:solidFill>
                  <a:srgbClr val="00509E"/>
                </a:solidFill>
                <a:latin typeface="Segoe UI"/>
              </a:defRPr>
            </a:pPr>
            <a:r>
              <a:t>7.5</a:t>
            </a:r>
          </a:p>
        </p:txBody>
      </p:sp>
      <p:sp>
        <p:nvSpPr>
          <p:cNvPr id="8" name="TextBox 7"/>
          <p:cNvSpPr txBox="1"/>
          <p:nvPr/>
        </p:nvSpPr>
        <p:spPr>
          <a:xfrm>
            <a:off x="640080" y="2423160"/>
            <a:ext cx="2834640" cy="274320"/>
          </a:xfrm>
          <a:prstGeom prst="rect">
            <a:avLst/>
          </a:prstGeom>
          <a:noFill/>
        </p:spPr>
        <p:txBody>
          <a:bodyPr wrap="none">
            <a:spAutoFit/>
          </a:bodyPr>
          <a:lstStyle/>
          <a:p>
            <a:pPr>
              <a:defRPr sz="1100">
                <a:solidFill>
                  <a:srgbClr val="10B981"/>
                </a:solidFill>
                <a:latin typeface="Segoe UI"/>
              </a:defRPr>
            </a:pPr>
            <a:r>
              <a:t>▲ 5.0% vs. periodo ant.</a:t>
            </a:r>
          </a:p>
        </p:txBody>
      </p:sp>
      <p:sp>
        <p:nvSpPr>
          <p:cNvPr id="9" name="Rounded Rectangle 8"/>
          <p:cNvSpPr/>
          <p:nvPr/>
        </p:nvSpPr>
        <p:spPr>
          <a:xfrm>
            <a:off x="4151376" y="1408176"/>
            <a:ext cx="4572000" cy="3200400"/>
          </a:xfrm>
          <a:prstGeom prst="roundRect">
            <a:avLst/>
          </a:prstGeom>
          <a:solidFill>
            <a:srgbClr val="DCDC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114800" y="1371600"/>
            <a:ext cx="4572000" cy="3200400"/>
          </a:xfrm>
          <a:prstGeom prst="roundRect">
            <a:avLst/>
          </a:prstGeom>
          <a:solidFill>
            <a:srgbClr val="FFFFFF"/>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png"/>
          <p:cNvPicPr>
            <a:picLocks noChangeAspect="1"/>
          </p:cNvPicPr>
          <p:nvPr/>
        </p:nvPicPr>
        <p:blipFill>
          <a:blip r:embed="rId2"/>
          <a:stretch>
            <a:fillRect/>
          </a:stretch>
        </p:blipFill>
        <p:spPr>
          <a:xfrm>
            <a:off x="4206240" y="1463040"/>
            <a:ext cx="4389120" cy="3017520"/>
          </a:xfrm>
          <a:prstGeom prst="rect">
            <a:avLst/>
          </a:prstGeom>
        </p:spPr>
      </p:pic>
      <p:sp>
        <p:nvSpPr>
          <p:cNvPr id="12" name="Rounded Rectangle 11"/>
          <p:cNvSpPr/>
          <p:nvPr/>
        </p:nvSpPr>
        <p:spPr>
          <a:xfrm>
            <a:off x="457200" y="4754880"/>
            <a:ext cx="8229600" cy="1463040"/>
          </a:xfrm>
          <a:prstGeom prst="roundRect">
            <a:avLst/>
          </a:prstGeom>
          <a:solidFill>
            <a:srgbClr val="F2F6FA"/>
          </a:solidFill>
          <a:ln w="12700">
            <a:solidFill>
              <a:srgbClr val="CCDC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4892040"/>
            <a:ext cx="7863840" cy="274320"/>
          </a:xfrm>
          <a:prstGeom prst="rect">
            <a:avLst/>
          </a:prstGeom>
          <a:noFill/>
        </p:spPr>
        <p:txBody>
          <a:bodyPr wrap="none">
            <a:spAutoFit/>
          </a:bodyPr>
          <a:lstStyle/>
          <a:p>
            <a:pPr>
              <a:defRPr sz="900" b="1">
                <a:solidFill>
                  <a:srgbClr val="00509E"/>
                </a:solidFill>
                <a:latin typeface="Segoe UI"/>
              </a:defRPr>
            </a:pPr>
            <a:r>
              <a:t>ANALISIS INTELIGENTE</a:t>
            </a:r>
          </a:p>
        </p:txBody>
      </p:sp>
      <p:sp>
        <p:nvSpPr>
          <p:cNvPr id="14" name="TextBox 13"/>
          <p:cNvSpPr txBox="1"/>
          <p:nvPr/>
        </p:nvSpPr>
        <p:spPr>
          <a:xfrm>
            <a:off x="640080" y="5120640"/>
            <a:ext cx="7863840" cy="960120"/>
          </a:xfrm>
          <a:prstGeom prst="rect">
            <a:avLst/>
          </a:prstGeom>
          <a:noFill/>
        </p:spPr>
        <p:txBody>
          <a:bodyPr wrap="square">
            <a:spAutoFit/>
          </a:bodyPr>
          <a:lstStyle/>
          <a:p>
            <a:pPr algn="just">
              <a:defRPr sz="1100" i="1">
                <a:solidFill>
                  <a:srgbClr val="111827"/>
                </a:solidFill>
                <a:latin typeface="Segoe UI"/>
              </a:defRPr>
            </a:pPr>
            <a:r>
              <a:t>Esta es una narrativa muy larga para la pregunta 12 que debe ajustarse correctamente dentro de la caja de narrativa sin desbordar los márgenes de la diapositiva. Incluye análisis detallado de tendencias y recomendaciones específicas para mejorar la experiencia del usuario.</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37160" cy="6858000"/>
          </a:xfrm>
          <a:prstGeom prst="rect">
            <a:avLst/>
          </a:prstGeom>
          <a:solidFill>
            <a:srgbClr val="0050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400" b="1">
                <a:solidFill>
                  <a:srgbClr val="111827"/>
                </a:solidFill>
                <a:latin typeface="Segoe UI"/>
              </a:defRPr>
            </a:pPr>
            <a:r>
              <a:t>13. Pregunta 13: ¿Qué opinas sobre el aspecto #13 del servicio prestado?</a:t>
            </a:r>
          </a:p>
        </p:txBody>
      </p:sp>
      <p:sp>
        <p:nvSpPr>
          <p:cNvPr id="4" name="Rounded Rectangle 3"/>
          <p:cNvSpPr/>
          <p:nvPr/>
        </p:nvSpPr>
        <p:spPr>
          <a:xfrm>
            <a:off x="493776" y="1408176"/>
            <a:ext cx="3200400" cy="1828800"/>
          </a:xfrm>
          <a:prstGeom prst="roundRect">
            <a:avLst/>
          </a:prstGeom>
          <a:solidFill>
            <a:srgbClr val="DCDC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371600"/>
            <a:ext cx="3200400" cy="1828800"/>
          </a:xfrm>
          <a:prstGeom prst="roundRect">
            <a:avLst/>
          </a:prstGeom>
          <a:solidFill>
            <a:srgbClr val="FFFFFF"/>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554480"/>
            <a:ext cx="2834640" cy="274320"/>
          </a:xfrm>
          <a:prstGeom prst="rect">
            <a:avLst/>
          </a:prstGeom>
          <a:noFill/>
        </p:spPr>
        <p:txBody>
          <a:bodyPr wrap="none">
            <a:spAutoFit/>
          </a:bodyPr>
          <a:lstStyle/>
          <a:p>
            <a:pPr>
              <a:defRPr sz="1000" b="1">
                <a:solidFill>
                  <a:srgbClr val="6B7280"/>
                </a:solidFill>
                <a:latin typeface="Segoe UI"/>
              </a:defRPr>
            </a:pPr>
            <a:r>
              <a:t>TOP OPCIÓN</a:t>
            </a:r>
          </a:p>
        </p:txBody>
      </p:sp>
      <p:sp>
        <p:nvSpPr>
          <p:cNvPr id="7" name="TextBox 6"/>
          <p:cNvSpPr txBox="1"/>
          <p:nvPr/>
        </p:nvSpPr>
        <p:spPr>
          <a:xfrm>
            <a:off x="640080" y="1783080"/>
            <a:ext cx="2834640" cy="731520"/>
          </a:xfrm>
          <a:prstGeom prst="rect">
            <a:avLst/>
          </a:prstGeom>
          <a:noFill/>
        </p:spPr>
        <p:txBody>
          <a:bodyPr wrap="square" anchor="t">
            <a:spAutoFit/>
          </a:bodyPr>
          <a:lstStyle/>
          <a:p>
            <a:pPr>
              <a:defRPr sz="1800" b="1">
                <a:solidFill>
                  <a:srgbClr val="00509E"/>
                </a:solidFill>
                <a:latin typeface="Segoe UI"/>
              </a:defRPr>
            </a:pPr>
            <a:r>
              <a:t>Opción favorita 13 (58%)</a:t>
            </a:r>
          </a:p>
        </p:txBody>
      </p:sp>
      <p:sp>
        <p:nvSpPr>
          <p:cNvPr id="8" name="TextBox 7"/>
          <p:cNvSpPr txBox="1"/>
          <p:nvPr/>
        </p:nvSpPr>
        <p:spPr>
          <a:xfrm>
            <a:off x="640080" y="2606040"/>
            <a:ext cx="2834640" cy="274320"/>
          </a:xfrm>
          <a:prstGeom prst="rect">
            <a:avLst/>
          </a:prstGeom>
          <a:noFill/>
        </p:spPr>
        <p:txBody>
          <a:bodyPr wrap="none">
            <a:spAutoFit/>
          </a:bodyPr>
          <a:lstStyle/>
          <a:p>
            <a:pPr>
              <a:defRPr sz="1100">
                <a:solidFill>
                  <a:srgbClr val="EF4444"/>
                </a:solidFill>
                <a:latin typeface="Segoe UI"/>
              </a:defRPr>
            </a:pPr>
            <a:r>
              <a:t>▼ 3.0% vs. periodo ant.</a:t>
            </a:r>
          </a:p>
        </p:txBody>
      </p:sp>
      <p:sp>
        <p:nvSpPr>
          <p:cNvPr id="9" name="Rounded Rectangle 8"/>
          <p:cNvSpPr/>
          <p:nvPr/>
        </p:nvSpPr>
        <p:spPr>
          <a:xfrm>
            <a:off x="4151376" y="1408176"/>
            <a:ext cx="4572000" cy="3200400"/>
          </a:xfrm>
          <a:prstGeom prst="roundRect">
            <a:avLst/>
          </a:prstGeom>
          <a:solidFill>
            <a:srgbClr val="DCDC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114800" y="1371600"/>
            <a:ext cx="4572000" cy="3200400"/>
          </a:xfrm>
          <a:prstGeom prst="roundRect">
            <a:avLst/>
          </a:prstGeom>
          <a:solidFill>
            <a:srgbClr val="FFFFFF"/>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png"/>
          <p:cNvPicPr>
            <a:picLocks noChangeAspect="1"/>
          </p:cNvPicPr>
          <p:nvPr/>
        </p:nvPicPr>
        <p:blipFill>
          <a:blip r:embed="rId2"/>
          <a:stretch>
            <a:fillRect/>
          </a:stretch>
        </p:blipFill>
        <p:spPr>
          <a:xfrm>
            <a:off x="4206240" y="1463040"/>
            <a:ext cx="4389120" cy="3017520"/>
          </a:xfrm>
          <a:prstGeom prst="rect">
            <a:avLst/>
          </a:prstGeom>
        </p:spPr>
      </p:pic>
      <p:sp>
        <p:nvSpPr>
          <p:cNvPr id="12" name="Rounded Rectangle 11"/>
          <p:cNvSpPr/>
          <p:nvPr/>
        </p:nvSpPr>
        <p:spPr>
          <a:xfrm>
            <a:off x="457200" y="4754880"/>
            <a:ext cx="8229600" cy="1463040"/>
          </a:xfrm>
          <a:prstGeom prst="roundRect">
            <a:avLst/>
          </a:prstGeom>
          <a:solidFill>
            <a:srgbClr val="F2F6FA"/>
          </a:solidFill>
          <a:ln w="12700">
            <a:solidFill>
              <a:srgbClr val="CCDC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4892040"/>
            <a:ext cx="7863840" cy="274320"/>
          </a:xfrm>
          <a:prstGeom prst="rect">
            <a:avLst/>
          </a:prstGeom>
          <a:noFill/>
        </p:spPr>
        <p:txBody>
          <a:bodyPr wrap="none">
            <a:spAutoFit/>
          </a:bodyPr>
          <a:lstStyle/>
          <a:p>
            <a:pPr>
              <a:defRPr sz="900" b="1">
                <a:solidFill>
                  <a:srgbClr val="00509E"/>
                </a:solidFill>
                <a:latin typeface="Segoe UI"/>
              </a:defRPr>
            </a:pPr>
            <a:r>
              <a:t>ANALISIS INTELIGENTE</a:t>
            </a:r>
          </a:p>
        </p:txBody>
      </p:sp>
      <p:sp>
        <p:nvSpPr>
          <p:cNvPr id="14" name="TextBox 13"/>
          <p:cNvSpPr txBox="1"/>
          <p:nvPr/>
        </p:nvSpPr>
        <p:spPr>
          <a:xfrm>
            <a:off x="640080" y="5120640"/>
            <a:ext cx="7863840" cy="960120"/>
          </a:xfrm>
          <a:prstGeom prst="rect">
            <a:avLst/>
          </a:prstGeom>
          <a:noFill/>
        </p:spPr>
        <p:txBody>
          <a:bodyPr wrap="square">
            <a:spAutoFit/>
          </a:bodyPr>
          <a:lstStyle/>
          <a:p>
            <a:pPr algn="just">
              <a:defRPr sz="1100" i="1">
                <a:solidFill>
                  <a:srgbClr val="111827"/>
                </a:solidFill>
                <a:latin typeface="Segoe UI"/>
              </a:defRPr>
            </a:pPr>
            <a:r>
              <a:t>Esta es una narrativa muy larga para la pregunta 13 que debe ajustarse correctamente dentro de la caja de narrativa sin desbordar los márgenes de la diapositiva. Incluye análisis detallado de tendencias y recomendaciones específicas para mejorar la experiencia del usuario.</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37160" cy="6858000"/>
          </a:xfrm>
          <a:prstGeom prst="rect">
            <a:avLst/>
          </a:prstGeom>
          <a:solidFill>
            <a:srgbClr val="0050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400" b="1">
                <a:solidFill>
                  <a:srgbClr val="111827"/>
                </a:solidFill>
                <a:latin typeface="Segoe UI"/>
              </a:defRPr>
            </a:pPr>
            <a:r>
              <a:t>14. Pregunta 14: ¿Qué opinas sobre el aspecto #14 del servicio prestado?</a:t>
            </a:r>
          </a:p>
        </p:txBody>
      </p:sp>
      <p:sp>
        <p:nvSpPr>
          <p:cNvPr id="4" name="Rounded Rectangle 3"/>
          <p:cNvSpPr/>
          <p:nvPr/>
        </p:nvSpPr>
        <p:spPr>
          <a:xfrm>
            <a:off x="493776" y="1408176"/>
            <a:ext cx="3200400" cy="1828800"/>
          </a:xfrm>
          <a:prstGeom prst="roundRect">
            <a:avLst/>
          </a:prstGeom>
          <a:solidFill>
            <a:srgbClr val="DCDC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371600"/>
            <a:ext cx="3200400" cy="1828800"/>
          </a:xfrm>
          <a:prstGeom prst="roundRect">
            <a:avLst/>
          </a:prstGeom>
          <a:solidFill>
            <a:srgbClr val="FFFFFF"/>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554480"/>
            <a:ext cx="2834640" cy="274320"/>
          </a:xfrm>
          <a:prstGeom prst="rect">
            <a:avLst/>
          </a:prstGeom>
          <a:noFill/>
        </p:spPr>
        <p:txBody>
          <a:bodyPr wrap="none">
            <a:spAutoFit/>
          </a:bodyPr>
          <a:lstStyle/>
          <a:p>
            <a:pPr>
              <a:defRPr sz="1000" b="1">
                <a:solidFill>
                  <a:srgbClr val="6B7280"/>
                </a:solidFill>
                <a:latin typeface="Segoe UI"/>
              </a:defRPr>
            </a:pPr>
            <a:r>
              <a:t>TOP OPCIÓN</a:t>
            </a:r>
          </a:p>
        </p:txBody>
      </p:sp>
      <p:sp>
        <p:nvSpPr>
          <p:cNvPr id="7" name="TextBox 6"/>
          <p:cNvSpPr txBox="1"/>
          <p:nvPr/>
        </p:nvSpPr>
        <p:spPr>
          <a:xfrm>
            <a:off x="640080" y="1783080"/>
            <a:ext cx="2834640" cy="731520"/>
          </a:xfrm>
          <a:prstGeom prst="rect">
            <a:avLst/>
          </a:prstGeom>
          <a:noFill/>
        </p:spPr>
        <p:txBody>
          <a:bodyPr wrap="square" anchor="t">
            <a:spAutoFit/>
          </a:bodyPr>
          <a:lstStyle/>
          <a:p>
            <a:pPr>
              <a:defRPr sz="1800" b="1">
                <a:solidFill>
                  <a:srgbClr val="00509E"/>
                </a:solidFill>
                <a:latin typeface="Segoe UI"/>
              </a:defRPr>
            </a:pPr>
            <a:r>
              <a:t>Opción favorita 14 (59%)</a:t>
            </a:r>
          </a:p>
        </p:txBody>
      </p:sp>
      <p:sp>
        <p:nvSpPr>
          <p:cNvPr id="8" name="TextBox 7"/>
          <p:cNvSpPr txBox="1"/>
          <p:nvPr/>
        </p:nvSpPr>
        <p:spPr>
          <a:xfrm>
            <a:off x="640080" y="2606040"/>
            <a:ext cx="2834640" cy="274320"/>
          </a:xfrm>
          <a:prstGeom prst="rect">
            <a:avLst/>
          </a:prstGeom>
          <a:noFill/>
        </p:spPr>
        <p:txBody>
          <a:bodyPr wrap="none">
            <a:spAutoFit/>
          </a:bodyPr>
          <a:lstStyle/>
          <a:p>
            <a:pPr>
              <a:defRPr sz="1100">
                <a:solidFill>
                  <a:srgbClr val="10B981"/>
                </a:solidFill>
                <a:latin typeface="Segoe UI"/>
              </a:defRPr>
            </a:pPr>
            <a:r>
              <a:t>▲ 5.0% vs. periodo ant.</a:t>
            </a:r>
          </a:p>
        </p:txBody>
      </p:sp>
      <p:sp>
        <p:nvSpPr>
          <p:cNvPr id="9" name="Rounded Rectangle 8"/>
          <p:cNvSpPr/>
          <p:nvPr/>
        </p:nvSpPr>
        <p:spPr>
          <a:xfrm>
            <a:off x="4151376" y="1408176"/>
            <a:ext cx="4572000" cy="3200400"/>
          </a:xfrm>
          <a:prstGeom prst="roundRect">
            <a:avLst/>
          </a:prstGeom>
          <a:solidFill>
            <a:srgbClr val="DCDC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114800" y="1371600"/>
            <a:ext cx="4572000" cy="3200400"/>
          </a:xfrm>
          <a:prstGeom prst="roundRect">
            <a:avLst/>
          </a:prstGeom>
          <a:solidFill>
            <a:srgbClr val="FFFFFF"/>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png"/>
          <p:cNvPicPr>
            <a:picLocks noChangeAspect="1"/>
          </p:cNvPicPr>
          <p:nvPr/>
        </p:nvPicPr>
        <p:blipFill>
          <a:blip r:embed="rId2"/>
          <a:stretch>
            <a:fillRect/>
          </a:stretch>
        </p:blipFill>
        <p:spPr>
          <a:xfrm>
            <a:off x="4206240" y="1463040"/>
            <a:ext cx="4389120" cy="3017520"/>
          </a:xfrm>
          <a:prstGeom prst="rect">
            <a:avLst/>
          </a:prstGeom>
        </p:spPr>
      </p:pic>
      <p:sp>
        <p:nvSpPr>
          <p:cNvPr id="12" name="Rounded Rectangle 11"/>
          <p:cNvSpPr/>
          <p:nvPr/>
        </p:nvSpPr>
        <p:spPr>
          <a:xfrm>
            <a:off x="457200" y="4754880"/>
            <a:ext cx="8229600" cy="1463040"/>
          </a:xfrm>
          <a:prstGeom prst="roundRect">
            <a:avLst/>
          </a:prstGeom>
          <a:solidFill>
            <a:srgbClr val="F2F6FA"/>
          </a:solidFill>
          <a:ln w="12700">
            <a:solidFill>
              <a:srgbClr val="CCDC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4892040"/>
            <a:ext cx="7863840" cy="274320"/>
          </a:xfrm>
          <a:prstGeom prst="rect">
            <a:avLst/>
          </a:prstGeom>
          <a:noFill/>
        </p:spPr>
        <p:txBody>
          <a:bodyPr wrap="none">
            <a:spAutoFit/>
          </a:bodyPr>
          <a:lstStyle/>
          <a:p>
            <a:pPr>
              <a:defRPr sz="900" b="1">
                <a:solidFill>
                  <a:srgbClr val="00509E"/>
                </a:solidFill>
                <a:latin typeface="Segoe UI"/>
              </a:defRPr>
            </a:pPr>
            <a:r>
              <a:t>ANALISIS INTELIGENTE</a:t>
            </a:r>
          </a:p>
        </p:txBody>
      </p:sp>
      <p:sp>
        <p:nvSpPr>
          <p:cNvPr id="14" name="TextBox 13"/>
          <p:cNvSpPr txBox="1"/>
          <p:nvPr/>
        </p:nvSpPr>
        <p:spPr>
          <a:xfrm>
            <a:off x="640080" y="5120640"/>
            <a:ext cx="7863840" cy="960120"/>
          </a:xfrm>
          <a:prstGeom prst="rect">
            <a:avLst/>
          </a:prstGeom>
          <a:noFill/>
        </p:spPr>
        <p:txBody>
          <a:bodyPr wrap="square">
            <a:spAutoFit/>
          </a:bodyPr>
          <a:lstStyle/>
          <a:p>
            <a:pPr algn="just">
              <a:defRPr sz="1100" i="1">
                <a:solidFill>
                  <a:srgbClr val="111827"/>
                </a:solidFill>
                <a:latin typeface="Segoe UI"/>
              </a:defRPr>
            </a:pPr>
            <a:r>
              <a:t>Esta es una narrativa muy larga para la pregunta 14 que debe ajustarse correctamente dentro de la caja de narrativa sin desbordar los márgenes de la diapositiva. Incluye análisis detallado de tendencias y recomendaciones específicas para mejorar la experiencia del usuario.</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37160" cy="6858000"/>
          </a:xfrm>
          <a:prstGeom prst="rect">
            <a:avLst/>
          </a:prstGeom>
          <a:solidFill>
            <a:srgbClr val="0050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400" b="1">
                <a:solidFill>
                  <a:srgbClr val="111827"/>
                </a:solidFill>
                <a:latin typeface="Segoe UI"/>
              </a:defRPr>
            </a:pPr>
            <a:r>
              <a:t>15. Pregunta 15: ¿Qué opinas sobre el aspecto #15 del servicio prestado?</a:t>
            </a:r>
          </a:p>
        </p:txBody>
      </p:sp>
      <p:sp>
        <p:nvSpPr>
          <p:cNvPr id="4" name="Rounded Rectangle 3"/>
          <p:cNvSpPr/>
          <p:nvPr/>
        </p:nvSpPr>
        <p:spPr>
          <a:xfrm>
            <a:off x="493776" y="1408176"/>
            <a:ext cx="3200400" cy="1828800"/>
          </a:xfrm>
          <a:prstGeom prst="roundRect">
            <a:avLst/>
          </a:prstGeom>
          <a:solidFill>
            <a:srgbClr val="DCDC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371600"/>
            <a:ext cx="3200400" cy="1828800"/>
          </a:xfrm>
          <a:prstGeom prst="roundRect">
            <a:avLst/>
          </a:prstGeom>
          <a:solidFill>
            <a:srgbClr val="FFFFFF"/>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554480"/>
            <a:ext cx="2834640" cy="274320"/>
          </a:xfrm>
          <a:prstGeom prst="rect">
            <a:avLst/>
          </a:prstGeom>
          <a:noFill/>
        </p:spPr>
        <p:txBody>
          <a:bodyPr wrap="none">
            <a:spAutoFit/>
          </a:bodyPr>
          <a:lstStyle/>
          <a:p>
            <a:pPr>
              <a:defRPr sz="1000" b="1">
                <a:solidFill>
                  <a:srgbClr val="6B7280"/>
                </a:solidFill>
                <a:latin typeface="Segoe UI"/>
              </a:defRPr>
            </a:pPr>
            <a:r>
              <a:t>PROMEDIO</a:t>
            </a:r>
          </a:p>
        </p:txBody>
      </p:sp>
      <p:sp>
        <p:nvSpPr>
          <p:cNvPr id="7" name="TextBox 6"/>
          <p:cNvSpPr txBox="1"/>
          <p:nvPr/>
        </p:nvSpPr>
        <p:spPr>
          <a:xfrm>
            <a:off x="640080" y="1783080"/>
            <a:ext cx="2834640" cy="731520"/>
          </a:xfrm>
          <a:prstGeom prst="rect">
            <a:avLst/>
          </a:prstGeom>
          <a:noFill/>
        </p:spPr>
        <p:txBody>
          <a:bodyPr wrap="square" anchor="t">
            <a:spAutoFit/>
          </a:bodyPr>
          <a:lstStyle/>
          <a:p>
            <a:pPr>
              <a:defRPr sz="4000" b="1">
                <a:solidFill>
                  <a:srgbClr val="00509E"/>
                </a:solidFill>
                <a:latin typeface="Segoe UI"/>
              </a:defRPr>
            </a:pPr>
            <a:r>
              <a:t>7.5</a:t>
            </a:r>
          </a:p>
        </p:txBody>
      </p:sp>
      <p:sp>
        <p:nvSpPr>
          <p:cNvPr id="8" name="TextBox 7"/>
          <p:cNvSpPr txBox="1"/>
          <p:nvPr/>
        </p:nvSpPr>
        <p:spPr>
          <a:xfrm>
            <a:off x="640080" y="2423160"/>
            <a:ext cx="2834640" cy="274320"/>
          </a:xfrm>
          <a:prstGeom prst="rect">
            <a:avLst/>
          </a:prstGeom>
          <a:noFill/>
        </p:spPr>
        <p:txBody>
          <a:bodyPr wrap="none">
            <a:spAutoFit/>
          </a:bodyPr>
          <a:lstStyle/>
          <a:p>
            <a:pPr>
              <a:defRPr sz="1100">
                <a:solidFill>
                  <a:srgbClr val="EF4444"/>
                </a:solidFill>
                <a:latin typeface="Segoe UI"/>
              </a:defRPr>
            </a:pPr>
            <a:r>
              <a:t>▼ 3.0% vs. periodo ant.</a:t>
            </a:r>
          </a:p>
        </p:txBody>
      </p:sp>
      <p:sp>
        <p:nvSpPr>
          <p:cNvPr id="9" name="Rounded Rectangle 8"/>
          <p:cNvSpPr/>
          <p:nvPr/>
        </p:nvSpPr>
        <p:spPr>
          <a:xfrm>
            <a:off x="4151376" y="1408176"/>
            <a:ext cx="4572000" cy="3200400"/>
          </a:xfrm>
          <a:prstGeom prst="roundRect">
            <a:avLst/>
          </a:prstGeom>
          <a:solidFill>
            <a:srgbClr val="DCDC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114800" y="1371600"/>
            <a:ext cx="4572000" cy="3200400"/>
          </a:xfrm>
          <a:prstGeom prst="roundRect">
            <a:avLst/>
          </a:prstGeom>
          <a:solidFill>
            <a:srgbClr val="FFFFFF"/>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png"/>
          <p:cNvPicPr>
            <a:picLocks noChangeAspect="1"/>
          </p:cNvPicPr>
          <p:nvPr/>
        </p:nvPicPr>
        <p:blipFill>
          <a:blip r:embed="rId2"/>
          <a:stretch>
            <a:fillRect/>
          </a:stretch>
        </p:blipFill>
        <p:spPr>
          <a:xfrm>
            <a:off x="4206240" y="1463040"/>
            <a:ext cx="4389120" cy="3017520"/>
          </a:xfrm>
          <a:prstGeom prst="rect">
            <a:avLst/>
          </a:prstGeom>
        </p:spPr>
      </p:pic>
      <p:sp>
        <p:nvSpPr>
          <p:cNvPr id="12" name="Rounded Rectangle 11"/>
          <p:cNvSpPr/>
          <p:nvPr/>
        </p:nvSpPr>
        <p:spPr>
          <a:xfrm>
            <a:off x="457200" y="4754880"/>
            <a:ext cx="8229600" cy="1463040"/>
          </a:xfrm>
          <a:prstGeom prst="roundRect">
            <a:avLst/>
          </a:prstGeom>
          <a:solidFill>
            <a:srgbClr val="F2F6FA"/>
          </a:solidFill>
          <a:ln w="12700">
            <a:solidFill>
              <a:srgbClr val="CCDC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4892040"/>
            <a:ext cx="7863840" cy="274320"/>
          </a:xfrm>
          <a:prstGeom prst="rect">
            <a:avLst/>
          </a:prstGeom>
          <a:noFill/>
        </p:spPr>
        <p:txBody>
          <a:bodyPr wrap="none">
            <a:spAutoFit/>
          </a:bodyPr>
          <a:lstStyle/>
          <a:p>
            <a:pPr>
              <a:defRPr sz="900" b="1">
                <a:solidFill>
                  <a:srgbClr val="00509E"/>
                </a:solidFill>
                <a:latin typeface="Segoe UI"/>
              </a:defRPr>
            </a:pPr>
            <a:r>
              <a:t>ANALISIS INTELIGENTE</a:t>
            </a:r>
          </a:p>
        </p:txBody>
      </p:sp>
      <p:sp>
        <p:nvSpPr>
          <p:cNvPr id="14" name="TextBox 13"/>
          <p:cNvSpPr txBox="1"/>
          <p:nvPr/>
        </p:nvSpPr>
        <p:spPr>
          <a:xfrm>
            <a:off x="640080" y="5120640"/>
            <a:ext cx="7863840" cy="960120"/>
          </a:xfrm>
          <a:prstGeom prst="rect">
            <a:avLst/>
          </a:prstGeom>
          <a:noFill/>
        </p:spPr>
        <p:txBody>
          <a:bodyPr wrap="square">
            <a:spAutoFit/>
          </a:bodyPr>
          <a:lstStyle/>
          <a:p>
            <a:pPr algn="just">
              <a:defRPr sz="1100" i="1">
                <a:solidFill>
                  <a:srgbClr val="111827"/>
                </a:solidFill>
                <a:latin typeface="Segoe UI"/>
              </a:defRPr>
            </a:pPr>
            <a:r>
              <a:t>Esta es una narrativa muy larga para la pregunta 15 que debe ajustarse correctamente dentro de la caja de narrativa sin desbordar los márgenes de la diapositiva. Incluye análisis detallado de tendencias y recomendaciones específicas para mejorar la experiencia del usuario.</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37160" cy="6858000"/>
          </a:xfrm>
          <a:prstGeom prst="rect">
            <a:avLst/>
          </a:prstGeom>
          <a:solidFill>
            <a:srgbClr val="0050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400" b="1">
                <a:solidFill>
                  <a:srgbClr val="111827"/>
                </a:solidFill>
                <a:latin typeface="Segoe UI"/>
              </a:defRPr>
            </a:pPr>
            <a:r>
              <a:t>16. Pregunta 16: ¿Qué opinas sobre el aspecto #16 del servicio prestado?</a:t>
            </a:r>
          </a:p>
        </p:txBody>
      </p:sp>
      <p:sp>
        <p:nvSpPr>
          <p:cNvPr id="4" name="Rounded Rectangle 3"/>
          <p:cNvSpPr/>
          <p:nvPr/>
        </p:nvSpPr>
        <p:spPr>
          <a:xfrm>
            <a:off x="493776" y="1408176"/>
            <a:ext cx="3200400" cy="1828800"/>
          </a:xfrm>
          <a:prstGeom prst="roundRect">
            <a:avLst/>
          </a:prstGeom>
          <a:solidFill>
            <a:srgbClr val="DCDC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371600"/>
            <a:ext cx="3200400" cy="1828800"/>
          </a:xfrm>
          <a:prstGeom prst="roundRect">
            <a:avLst/>
          </a:prstGeom>
          <a:solidFill>
            <a:srgbClr val="FFFFFF"/>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554480"/>
            <a:ext cx="2834640" cy="274320"/>
          </a:xfrm>
          <a:prstGeom prst="rect">
            <a:avLst/>
          </a:prstGeom>
          <a:noFill/>
        </p:spPr>
        <p:txBody>
          <a:bodyPr wrap="none">
            <a:spAutoFit/>
          </a:bodyPr>
          <a:lstStyle/>
          <a:p>
            <a:pPr>
              <a:defRPr sz="1000" b="1">
                <a:solidFill>
                  <a:srgbClr val="6B7280"/>
                </a:solidFill>
                <a:latin typeface="Segoe UI"/>
              </a:defRPr>
            </a:pPr>
            <a:r>
              <a:t>TOP OPCIÓN</a:t>
            </a:r>
          </a:p>
        </p:txBody>
      </p:sp>
      <p:sp>
        <p:nvSpPr>
          <p:cNvPr id="7" name="TextBox 6"/>
          <p:cNvSpPr txBox="1"/>
          <p:nvPr/>
        </p:nvSpPr>
        <p:spPr>
          <a:xfrm>
            <a:off x="640080" y="1783080"/>
            <a:ext cx="2834640" cy="731520"/>
          </a:xfrm>
          <a:prstGeom prst="rect">
            <a:avLst/>
          </a:prstGeom>
          <a:noFill/>
        </p:spPr>
        <p:txBody>
          <a:bodyPr wrap="square" anchor="t">
            <a:spAutoFit/>
          </a:bodyPr>
          <a:lstStyle/>
          <a:p>
            <a:pPr>
              <a:defRPr sz="1800" b="1">
                <a:solidFill>
                  <a:srgbClr val="00509E"/>
                </a:solidFill>
                <a:latin typeface="Segoe UI"/>
              </a:defRPr>
            </a:pPr>
            <a:r>
              <a:t>Opción favorita 16 (61%)</a:t>
            </a:r>
          </a:p>
        </p:txBody>
      </p:sp>
      <p:sp>
        <p:nvSpPr>
          <p:cNvPr id="8" name="TextBox 7"/>
          <p:cNvSpPr txBox="1"/>
          <p:nvPr/>
        </p:nvSpPr>
        <p:spPr>
          <a:xfrm>
            <a:off x="640080" y="2606040"/>
            <a:ext cx="2834640" cy="274320"/>
          </a:xfrm>
          <a:prstGeom prst="rect">
            <a:avLst/>
          </a:prstGeom>
          <a:noFill/>
        </p:spPr>
        <p:txBody>
          <a:bodyPr wrap="none">
            <a:spAutoFit/>
          </a:bodyPr>
          <a:lstStyle/>
          <a:p>
            <a:pPr>
              <a:defRPr sz="1100">
                <a:solidFill>
                  <a:srgbClr val="10B981"/>
                </a:solidFill>
                <a:latin typeface="Segoe UI"/>
              </a:defRPr>
            </a:pPr>
            <a:r>
              <a:t>▲ 5.0% vs. periodo ant.</a:t>
            </a:r>
          </a:p>
        </p:txBody>
      </p:sp>
      <p:sp>
        <p:nvSpPr>
          <p:cNvPr id="9" name="Rounded Rectangle 8"/>
          <p:cNvSpPr/>
          <p:nvPr/>
        </p:nvSpPr>
        <p:spPr>
          <a:xfrm>
            <a:off x="4151376" y="1408176"/>
            <a:ext cx="4572000" cy="3200400"/>
          </a:xfrm>
          <a:prstGeom prst="roundRect">
            <a:avLst/>
          </a:prstGeom>
          <a:solidFill>
            <a:srgbClr val="DCDC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114800" y="1371600"/>
            <a:ext cx="4572000" cy="3200400"/>
          </a:xfrm>
          <a:prstGeom prst="roundRect">
            <a:avLst/>
          </a:prstGeom>
          <a:solidFill>
            <a:srgbClr val="FFFFFF"/>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png"/>
          <p:cNvPicPr>
            <a:picLocks noChangeAspect="1"/>
          </p:cNvPicPr>
          <p:nvPr/>
        </p:nvPicPr>
        <p:blipFill>
          <a:blip r:embed="rId2"/>
          <a:stretch>
            <a:fillRect/>
          </a:stretch>
        </p:blipFill>
        <p:spPr>
          <a:xfrm>
            <a:off x="4206240" y="1463040"/>
            <a:ext cx="4389120" cy="3017520"/>
          </a:xfrm>
          <a:prstGeom prst="rect">
            <a:avLst/>
          </a:prstGeom>
        </p:spPr>
      </p:pic>
      <p:sp>
        <p:nvSpPr>
          <p:cNvPr id="12" name="Rounded Rectangle 11"/>
          <p:cNvSpPr/>
          <p:nvPr/>
        </p:nvSpPr>
        <p:spPr>
          <a:xfrm>
            <a:off x="457200" y="4754880"/>
            <a:ext cx="8229600" cy="1463040"/>
          </a:xfrm>
          <a:prstGeom prst="roundRect">
            <a:avLst/>
          </a:prstGeom>
          <a:solidFill>
            <a:srgbClr val="F2F6FA"/>
          </a:solidFill>
          <a:ln w="12700">
            <a:solidFill>
              <a:srgbClr val="CCDC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4892040"/>
            <a:ext cx="7863840" cy="274320"/>
          </a:xfrm>
          <a:prstGeom prst="rect">
            <a:avLst/>
          </a:prstGeom>
          <a:noFill/>
        </p:spPr>
        <p:txBody>
          <a:bodyPr wrap="none">
            <a:spAutoFit/>
          </a:bodyPr>
          <a:lstStyle/>
          <a:p>
            <a:pPr>
              <a:defRPr sz="900" b="1">
                <a:solidFill>
                  <a:srgbClr val="00509E"/>
                </a:solidFill>
                <a:latin typeface="Segoe UI"/>
              </a:defRPr>
            </a:pPr>
            <a:r>
              <a:t>ANALISIS INTELIGENTE</a:t>
            </a:r>
          </a:p>
        </p:txBody>
      </p:sp>
      <p:sp>
        <p:nvSpPr>
          <p:cNvPr id="14" name="TextBox 13"/>
          <p:cNvSpPr txBox="1"/>
          <p:nvPr/>
        </p:nvSpPr>
        <p:spPr>
          <a:xfrm>
            <a:off x="640080" y="5120640"/>
            <a:ext cx="7863840" cy="960120"/>
          </a:xfrm>
          <a:prstGeom prst="rect">
            <a:avLst/>
          </a:prstGeom>
          <a:noFill/>
        </p:spPr>
        <p:txBody>
          <a:bodyPr wrap="square">
            <a:spAutoFit/>
          </a:bodyPr>
          <a:lstStyle/>
          <a:p>
            <a:pPr algn="just">
              <a:defRPr sz="1100" i="1">
                <a:solidFill>
                  <a:srgbClr val="111827"/>
                </a:solidFill>
                <a:latin typeface="Segoe UI"/>
              </a:defRPr>
            </a:pPr>
            <a:r>
              <a:t>Esta es una narrativa muy larga para la pregunta 16 que debe ajustarse correctamente dentro de la caja de narrativa sin desbordar los márgenes de la diapositiva. Incluye análisis detallado de tendencias y recomendaciones específicas para mejorar la experiencia del usuario.</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37160" cy="6858000"/>
          </a:xfrm>
          <a:prstGeom prst="rect">
            <a:avLst/>
          </a:prstGeom>
          <a:solidFill>
            <a:srgbClr val="0050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400" b="1">
                <a:solidFill>
                  <a:srgbClr val="111827"/>
                </a:solidFill>
                <a:latin typeface="Segoe UI"/>
              </a:defRPr>
            </a:pPr>
            <a:r>
              <a:t>17. Pregunta 17: ¿Qué opinas sobre el aspecto #17 del servicio prestado?</a:t>
            </a:r>
          </a:p>
        </p:txBody>
      </p:sp>
      <p:sp>
        <p:nvSpPr>
          <p:cNvPr id="4" name="Rounded Rectangle 3"/>
          <p:cNvSpPr/>
          <p:nvPr/>
        </p:nvSpPr>
        <p:spPr>
          <a:xfrm>
            <a:off x="493776" y="1408176"/>
            <a:ext cx="3200400" cy="1828800"/>
          </a:xfrm>
          <a:prstGeom prst="roundRect">
            <a:avLst/>
          </a:prstGeom>
          <a:solidFill>
            <a:srgbClr val="DCDC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371600"/>
            <a:ext cx="3200400" cy="1828800"/>
          </a:xfrm>
          <a:prstGeom prst="roundRect">
            <a:avLst/>
          </a:prstGeom>
          <a:solidFill>
            <a:srgbClr val="FFFFFF"/>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554480"/>
            <a:ext cx="2834640" cy="274320"/>
          </a:xfrm>
          <a:prstGeom prst="rect">
            <a:avLst/>
          </a:prstGeom>
          <a:noFill/>
        </p:spPr>
        <p:txBody>
          <a:bodyPr wrap="none">
            <a:spAutoFit/>
          </a:bodyPr>
          <a:lstStyle/>
          <a:p>
            <a:pPr>
              <a:defRPr sz="1000" b="1">
                <a:solidFill>
                  <a:srgbClr val="6B7280"/>
                </a:solidFill>
                <a:latin typeface="Segoe UI"/>
              </a:defRPr>
            </a:pPr>
            <a:r>
              <a:t>TOP OPCIÓN</a:t>
            </a:r>
          </a:p>
        </p:txBody>
      </p:sp>
      <p:sp>
        <p:nvSpPr>
          <p:cNvPr id="7" name="TextBox 6"/>
          <p:cNvSpPr txBox="1"/>
          <p:nvPr/>
        </p:nvSpPr>
        <p:spPr>
          <a:xfrm>
            <a:off x="640080" y="1783080"/>
            <a:ext cx="2834640" cy="731520"/>
          </a:xfrm>
          <a:prstGeom prst="rect">
            <a:avLst/>
          </a:prstGeom>
          <a:noFill/>
        </p:spPr>
        <p:txBody>
          <a:bodyPr wrap="square" anchor="t">
            <a:spAutoFit/>
          </a:bodyPr>
          <a:lstStyle/>
          <a:p>
            <a:pPr>
              <a:defRPr sz="1800" b="1">
                <a:solidFill>
                  <a:srgbClr val="00509E"/>
                </a:solidFill>
                <a:latin typeface="Segoe UI"/>
              </a:defRPr>
            </a:pPr>
            <a:r>
              <a:t>Opción favorita 17 (62%)</a:t>
            </a:r>
          </a:p>
        </p:txBody>
      </p:sp>
      <p:sp>
        <p:nvSpPr>
          <p:cNvPr id="8" name="TextBox 7"/>
          <p:cNvSpPr txBox="1"/>
          <p:nvPr/>
        </p:nvSpPr>
        <p:spPr>
          <a:xfrm>
            <a:off x="640080" y="2606040"/>
            <a:ext cx="2834640" cy="274320"/>
          </a:xfrm>
          <a:prstGeom prst="rect">
            <a:avLst/>
          </a:prstGeom>
          <a:noFill/>
        </p:spPr>
        <p:txBody>
          <a:bodyPr wrap="none">
            <a:spAutoFit/>
          </a:bodyPr>
          <a:lstStyle/>
          <a:p>
            <a:pPr>
              <a:defRPr sz="1100">
                <a:solidFill>
                  <a:srgbClr val="EF4444"/>
                </a:solidFill>
                <a:latin typeface="Segoe UI"/>
              </a:defRPr>
            </a:pPr>
            <a:r>
              <a:t>▼ 3.0% vs. periodo ant.</a:t>
            </a:r>
          </a:p>
        </p:txBody>
      </p:sp>
      <p:sp>
        <p:nvSpPr>
          <p:cNvPr id="9" name="Rounded Rectangle 8"/>
          <p:cNvSpPr/>
          <p:nvPr/>
        </p:nvSpPr>
        <p:spPr>
          <a:xfrm>
            <a:off x="4151376" y="1408176"/>
            <a:ext cx="4572000" cy="3200400"/>
          </a:xfrm>
          <a:prstGeom prst="roundRect">
            <a:avLst/>
          </a:prstGeom>
          <a:solidFill>
            <a:srgbClr val="DCDC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114800" y="1371600"/>
            <a:ext cx="4572000" cy="3200400"/>
          </a:xfrm>
          <a:prstGeom prst="roundRect">
            <a:avLst/>
          </a:prstGeom>
          <a:solidFill>
            <a:srgbClr val="FFFFFF"/>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png"/>
          <p:cNvPicPr>
            <a:picLocks noChangeAspect="1"/>
          </p:cNvPicPr>
          <p:nvPr/>
        </p:nvPicPr>
        <p:blipFill>
          <a:blip r:embed="rId2"/>
          <a:stretch>
            <a:fillRect/>
          </a:stretch>
        </p:blipFill>
        <p:spPr>
          <a:xfrm>
            <a:off x="4206240" y="1463040"/>
            <a:ext cx="4389120" cy="3017520"/>
          </a:xfrm>
          <a:prstGeom prst="rect">
            <a:avLst/>
          </a:prstGeom>
        </p:spPr>
      </p:pic>
      <p:sp>
        <p:nvSpPr>
          <p:cNvPr id="12" name="Rounded Rectangle 11"/>
          <p:cNvSpPr/>
          <p:nvPr/>
        </p:nvSpPr>
        <p:spPr>
          <a:xfrm>
            <a:off x="457200" y="4754880"/>
            <a:ext cx="8229600" cy="1463040"/>
          </a:xfrm>
          <a:prstGeom prst="roundRect">
            <a:avLst/>
          </a:prstGeom>
          <a:solidFill>
            <a:srgbClr val="F2F6FA"/>
          </a:solidFill>
          <a:ln w="12700">
            <a:solidFill>
              <a:srgbClr val="CCDC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4892040"/>
            <a:ext cx="7863840" cy="274320"/>
          </a:xfrm>
          <a:prstGeom prst="rect">
            <a:avLst/>
          </a:prstGeom>
          <a:noFill/>
        </p:spPr>
        <p:txBody>
          <a:bodyPr wrap="none">
            <a:spAutoFit/>
          </a:bodyPr>
          <a:lstStyle/>
          <a:p>
            <a:pPr>
              <a:defRPr sz="900" b="1">
                <a:solidFill>
                  <a:srgbClr val="00509E"/>
                </a:solidFill>
                <a:latin typeface="Segoe UI"/>
              </a:defRPr>
            </a:pPr>
            <a:r>
              <a:t>ANALISIS INTELIGENTE</a:t>
            </a:r>
          </a:p>
        </p:txBody>
      </p:sp>
      <p:sp>
        <p:nvSpPr>
          <p:cNvPr id="14" name="TextBox 13"/>
          <p:cNvSpPr txBox="1"/>
          <p:nvPr/>
        </p:nvSpPr>
        <p:spPr>
          <a:xfrm>
            <a:off x="640080" y="5120640"/>
            <a:ext cx="7863840" cy="960120"/>
          </a:xfrm>
          <a:prstGeom prst="rect">
            <a:avLst/>
          </a:prstGeom>
          <a:noFill/>
        </p:spPr>
        <p:txBody>
          <a:bodyPr wrap="square">
            <a:spAutoFit/>
          </a:bodyPr>
          <a:lstStyle/>
          <a:p>
            <a:pPr algn="just">
              <a:defRPr sz="1100" i="1">
                <a:solidFill>
                  <a:srgbClr val="111827"/>
                </a:solidFill>
                <a:latin typeface="Segoe UI"/>
              </a:defRPr>
            </a:pPr>
            <a:r>
              <a:t>Esta es una narrativa muy larga para la pregunta 17 que debe ajustarse correctamente dentro de la caja de narrativa sin desbordar los márgenes de la diapositiva. Incluye análisis detallado de tendencias y recomendaciones específicas para mejorar la experiencia del usuario.</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37160" cy="6858000"/>
          </a:xfrm>
          <a:prstGeom prst="rect">
            <a:avLst/>
          </a:prstGeom>
          <a:solidFill>
            <a:srgbClr val="0050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400" b="1">
                <a:solidFill>
                  <a:srgbClr val="111827"/>
                </a:solidFill>
                <a:latin typeface="Segoe UI"/>
              </a:defRPr>
            </a:pPr>
            <a:r>
              <a:t>18. Pregunta 18: ¿Qué opinas sobre el aspecto #18 del servicio prestado?</a:t>
            </a:r>
          </a:p>
        </p:txBody>
      </p:sp>
      <p:sp>
        <p:nvSpPr>
          <p:cNvPr id="4" name="Rounded Rectangle 3"/>
          <p:cNvSpPr/>
          <p:nvPr/>
        </p:nvSpPr>
        <p:spPr>
          <a:xfrm>
            <a:off x="493776" y="1408176"/>
            <a:ext cx="3200400" cy="1828800"/>
          </a:xfrm>
          <a:prstGeom prst="roundRect">
            <a:avLst/>
          </a:prstGeom>
          <a:solidFill>
            <a:srgbClr val="DCDC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371600"/>
            <a:ext cx="3200400" cy="1828800"/>
          </a:xfrm>
          <a:prstGeom prst="roundRect">
            <a:avLst/>
          </a:prstGeom>
          <a:solidFill>
            <a:srgbClr val="FFFFFF"/>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554480"/>
            <a:ext cx="2834640" cy="274320"/>
          </a:xfrm>
          <a:prstGeom prst="rect">
            <a:avLst/>
          </a:prstGeom>
          <a:noFill/>
        </p:spPr>
        <p:txBody>
          <a:bodyPr wrap="none">
            <a:spAutoFit/>
          </a:bodyPr>
          <a:lstStyle/>
          <a:p>
            <a:pPr>
              <a:defRPr sz="1000" b="1">
                <a:solidFill>
                  <a:srgbClr val="6B7280"/>
                </a:solidFill>
                <a:latin typeface="Segoe UI"/>
              </a:defRPr>
            </a:pPr>
            <a:r>
              <a:t>PROMEDIO</a:t>
            </a:r>
          </a:p>
        </p:txBody>
      </p:sp>
      <p:sp>
        <p:nvSpPr>
          <p:cNvPr id="7" name="TextBox 6"/>
          <p:cNvSpPr txBox="1"/>
          <p:nvPr/>
        </p:nvSpPr>
        <p:spPr>
          <a:xfrm>
            <a:off x="640080" y="1783080"/>
            <a:ext cx="2834640" cy="731520"/>
          </a:xfrm>
          <a:prstGeom prst="rect">
            <a:avLst/>
          </a:prstGeom>
          <a:noFill/>
        </p:spPr>
        <p:txBody>
          <a:bodyPr wrap="square" anchor="t">
            <a:spAutoFit/>
          </a:bodyPr>
          <a:lstStyle/>
          <a:p>
            <a:pPr>
              <a:defRPr sz="4000" b="1">
                <a:solidFill>
                  <a:srgbClr val="00509E"/>
                </a:solidFill>
                <a:latin typeface="Segoe UI"/>
              </a:defRPr>
            </a:pPr>
            <a:r>
              <a:t>7.5</a:t>
            </a:r>
          </a:p>
        </p:txBody>
      </p:sp>
      <p:sp>
        <p:nvSpPr>
          <p:cNvPr id="8" name="TextBox 7"/>
          <p:cNvSpPr txBox="1"/>
          <p:nvPr/>
        </p:nvSpPr>
        <p:spPr>
          <a:xfrm>
            <a:off x="640080" y="2423160"/>
            <a:ext cx="2834640" cy="274320"/>
          </a:xfrm>
          <a:prstGeom prst="rect">
            <a:avLst/>
          </a:prstGeom>
          <a:noFill/>
        </p:spPr>
        <p:txBody>
          <a:bodyPr wrap="none">
            <a:spAutoFit/>
          </a:bodyPr>
          <a:lstStyle/>
          <a:p>
            <a:pPr>
              <a:defRPr sz="1100">
                <a:solidFill>
                  <a:srgbClr val="10B981"/>
                </a:solidFill>
                <a:latin typeface="Segoe UI"/>
              </a:defRPr>
            </a:pPr>
            <a:r>
              <a:t>▲ 5.0% vs. periodo ant.</a:t>
            </a:r>
          </a:p>
        </p:txBody>
      </p:sp>
      <p:sp>
        <p:nvSpPr>
          <p:cNvPr id="9" name="Rounded Rectangle 8"/>
          <p:cNvSpPr/>
          <p:nvPr/>
        </p:nvSpPr>
        <p:spPr>
          <a:xfrm>
            <a:off x="4151376" y="1408176"/>
            <a:ext cx="4572000" cy="3200400"/>
          </a:xfrm>
          <a:prstGeom prst="roundRect">
            <a:avLst/>
          </a:prstGeom>
          <a:solidFill>
            <a:srgbClr val="DCDC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114800" y="1371600"/>
            <a:ext cx="4572000" cy="3200400"/>
          </a:xfrm>
          <a:prstGeom prst="roundRect">
            <a:avLst/>
          </a:prstGeom>
          <a:solidFill>
            <a:srgbClr val="FFFFFF"/>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png"/>
          <p:cNvPicPr>
            <a:picLocks noChangeAspect="1"/>
          </p:cNvPicPr>
          <p:nvPr/>
        </p:nvPicPr>
        <p:blipFill>
          <a:blip r:embed="rId2"/>
          <a:stretch>
            <a:fillRect/>
          </a:stretch>
        </p:blipFill>
        <p:spPr>
          <a:xfrm>
            <a:off x="4206240" y="1463040"/>
            <a:ext cx="4389120" cy="3017520"/>
          </a:xfrm>
          <a:prstGeom prst="rect">
            <a:avLst/>
          </a:prstGeom>
        </p:spPr>
      </p:pic>
      <p:sp>
        <p:nvSpPr>
          <p:cNvPr id="12" name="Rounded Rectangle 11"/>
          <p:cNvSpPr/>
          <p:nvPr/>
        </p:nvSpPr>
        <p:spPr>
          <a:xfrm>
            <a:off x="457200" y="4754880"/>
            <a:ext cx="8229600" cy="1463040"/>
          </a:xfrm>
          <a:prstGeom prst="roundRect">
            <a:avLst/>
          </a:prstGeom>
          <a:solidFill>
            <a:srgbClr val="F2F6FA"/>
          </a:solidFill>
          <a:ln w="12700">
            <a:solidFill>
              <a:srgbClr val="CCDC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4892040"/>
            <a:ext cx="7863840" cy="274320"/>
          </a:xfrm>
          <a:prstGeom prst="rect">
            <a:avLst/>
          </a:prstGeom>
          <a:noFill/>
        </p:spPr>
        <p:txBody>
          <a:bodyPr wrap="none">
            <a:spAutoFit/>
          </a:bodyPr>
          <a:lstStyle/>
          <a:p>
            <a:pPr>
              <a:defRPr sz="900" b="1">
                <a:solidFill>
                  <a:srgbClr val="00509E"/>
                </a:solidFill>
                <a:latin typeface="Segoe UI"/>
              </a:defRPr>
            </a:pPr>
            <a:r>
              <a:t>ANALISIS INTELIGENTE</a:t>
            </a:r>
          </a:p>
        </p:txBody>
      </p:sp>
      <p:sp>
        <p:nvSpPr>
          <p:cNvPr id="14" name="TextBox 13"/>
          <p:cNvSpPr txBox="1"/>
          <p:nvPr/>
        </p:nvSpPr>
        <p:spPr>
          <a:xfrm>
            <a:off x="640080" y="5120640"/>
            <a:ext cx="7863840" cy="960120"/>
          </a:xfrm>
          <a:prstGeom prst="rect">
            <a:avLst/>
          </a:prstGeom>
          <a:noFill/>
        </p:spPr>
        <p:txBody>
          <a:bodyPr wrap="square">
            <a:spAutoFit/>
          </a:bodyPr>
          <a:lstStyle/>
          <a:p>
            <a:pPr algn="just">
              <a:defRPr sz="1100" i="1">
                <a:solidFill>
                  <a:srgbClr val="111827"/>
                </a:solidFill>
                <a:latin typeface="Segoe UI"/>
              </a:defRPr>
            </a:pPr>
            <a:r>
              <a:t>Esta es una narrativa muy larga para la pregunta 18 que debe ajustarse correctamente dentro de la caja de narrativa sin desbordar los márgenes de la diapositiva. Incluye análisis detallado de tendencias y recomendaciones específicas para mejorar la experiencia del usuario.</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37160" cy="6858000"/>
          </a:xfrm>
          <a:prstGeom prst="rect">
            <a:avLst/>
          </a:prstGeom>
          <a:solidFill>
            <a:srgbClr val="0050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400" b="1">
                <a:solidFill>
                  <a:srgbClr val="111827"/>
                </a:solidFill>
                <a:latin typeface="Segoe UI"/>
              </a:defRPr>
            </a:pPr>
            <a:r>
              <a:t>19. Pregunta 19: ¿Qué opinas sobre el aspecto #19 del servicio prestado?</a:t>
            </a:r>
          </a:p>
        </p:txBody>
      </p:sp>
      <p:sp>
        <p:nvSpPr>
          <p:cNvPr id="4" name="Rounded Rectangle 3"/>
          <p:cNvSpPr/>
          <p:nvPr/>
        </p:nvSpPr>
        <p:spPr>
          <a:xfrm>
            <a:off x="493776" y="1408176"/>
            <a:ext cx="3200400" cy="1828800"/>
          </a:xfrm>
          <a:prstGeom prst="roundRect">
            <a:avLst/>
          </a:prstGeom>
          <a:solidFill>
            <a:srgbClr val="DCDC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371600"/>
            <a:ext cx="3200400" cy="1828800"/>
          </a:xfrm>
          <a:prstGeom prst="roundRect">
            <a:avLst/>
          </a:prstGeom>
          <a:solidFill>
            <a:srgbClr val="FFFFFF"/>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554480"/>
            <a:ext cx="2834640" cy="274320"/>
          </a:xfrm>
          <a:prstGeom prst="rect">
            <a:avLst/>
          </a:prstGeom>
          <a:noFill/>
        </p:spPr>
        <p:txBody>
          <a:bodyPr wrap="none">
            <a:spAutoFit/>
          </a:bodyPr>
          <a:lstStyle/>
          <a:p>
            <a:pPr>
              <a:defRPr sz="1000" b="1">
                <a:solidFill>
                  <a:srgbClr val="6B7280"/>
                </a:solidFill>
                <a:latin typeface="Segoe UI"/>
              </a:defRPr>
            </a:pPr>
            <a:r>
              <a:t>TOP OPCIÓN</a:t>
            </a:r>
          </a:p>
        </p:txBody>
      </p:sp>
      <p:sp>
        <p:nvSpPr>
          <p:cNvPr id="7" name="TextBox 6"/>
          <p:cNvSpPr txBox="1"/>
          <p:nvPr/>
        </p:nvSpPr>
        <p:spPr>
          <a:xfrm>
            <a:off x="640080" y="1783080"/>
            <a:ext cx="2834640" cy="731520"/>
          </a:xfrm>
          <a:prstGeom prst="rect">
            <a:avLst/>
          </a:prstGeom>
          <a:noFill/>
        </p:spPr>
        <p:txBody>
          <a:bodyPr wrap="square" anchor="t">
            <a:spAutoFit/>
          </a:bodyPr>
          <a:lstStyle/>
          <a:p>
            <a:pPr>
              <a:defRPr sz="1800" b="1">
                <a:solidFill>
                  <a:srgbClr val="00509E"/>
                </a:solidFill>
                <a:latin typeface="Segoe UI"/>
              </a:defRPr>
            </a:pPr>
            <a:r>
              <a:t>Opción favorita 19 (64%)</a:t>
            </a:r>
          </a:p>
        </p:txBody>
      </p:sp>
      <p:sp>
        <p:nvSpPr>
          <p:cNvPr id="8" name="TextBox 7"/>
          <p:cNvSpPr txBox="1"/>
          <p:nvPr/>
        </p:nvSpPr>
        <p:spPr>
          <a:xfrm>
            <a:off x="640080" y="2606040"/>
            <a:ext cx="2834640" cy="274320"/>
          </a:xfrm>
          <a:prstGeom prst="rect">
            <a:avLst/>
          </a:prstGeom>
          <a:noFill/>
        </p:spPr>
        <p:txBody>
          <a:bodyPr wrap="none">
            <a:spAutoFit/>
          </a:bodyPr>
          <a:lstStyle/>
          <a:p>
            <a:pPr>
              <a:defRPr sz="1100">
                <a:solidFill>
                  <a:srgbClr val="EF4444"/>
                </a:solidFill>
                <a:latin typeface="Segoe UI"/>
              </a:defRPr>
            </a:pPr>
            <a:r>
              <a:t>▼ 3.0% vs. periodo ant.</a:t>
            </a:r>
          </a:p>
        </p:txBody>
      </p:sp>
      <p:sp>
        <p:nvSpPr>
          <p:cNvPr id="9" name="Rounded Rectangle 8"/>
          <p:cNvSpPr/>
          <p:nvPr/>
        </p:nvSpPr>
        <p:spPr>
          <a:xfrm>
            <a:off x="4151376" y="1408176"/>
            <a:ext cx="4572000" cy="3200400"/>
          </a:xfrm>
          <a:prstGeom prst="roundRect">
            <a:avLst/>
          </a:prstGeom>
          <a:solidFill>
            <a:srgbClr val="DCDC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114800" y="1371600"/>
            <a:ext cx="4572000" cy="3200400"/>
          </a:xfrm>
          <a:prstGeom prst="roundRect">
            <a:avLst/>
          </a:prstGeom>
          <a:solidFill>
            <a:srgbClr val="FFFFFF"/>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png"/>
          <p:cNvPicPr>
            <a:picLocks noChangeAspect="1"/>
          </p:cNvPicPr>
          <p:nvPr/>
        </p:nvPicPr>
        <p:blipFill>
          <a:blip r:embed="rId2"/>
          <a:stretch>
            <a:fillRect/>
          </a:stretch>
        </p:blipFill>
        <p:spPr>
          <a:xfrm>
            <a:off x="4206240" y="1463040"/>
            <a:ext cx="4389120" cy="3017520"/>
          </a:xfrm>
          <a:prstGeom prst="rect">
            <a:avLst/>
          </a:prstGeom>
        </p:spPr>
      </p:pic>
      <p:sp>
        <p:nvSpPr>
          <p:cNvPr id="12" name="Rounded Rectangle 11"/>
          <p:cNvSpPr/>
          <p:nvPr/>
        </p:nvSpPr>
        <p:spPr>
          <a:xfrm>
            <a:off x="457200" y="4754880"/>
            <a:ext cx="8229600" cy="1463040"/>
          </a:xfrm>
          <a:prstGeom prst="roundRect">
            <a:avLst/>
          </a:prstGeom>
          <a:solidFill>
            <a:srgbClr val="F2F6FA"/>
          </a:solidFill>
          <a:ln w="12700">
            <a:solidFill>
              <a:srgbClr val="CCDC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4892040"/>
            <a:ext cx="7863840" cy="274320"/>
          </a:xfrm>
          <a:prstGeom prst="rect">
            <a:avLst/>
          </a:prstGeom>
          <a:noFill/>
        </p:spPr>
        <p:txBody>
          <a:bodyPr wrap="none">
            <a:spAutoFit/>
          </a:bodyPr>
          <a:lstStyle/>
          <a:p>
            <a:pPr>
              <a:defRPr sz="900" b="1">
                <a:solidFill>
                  <a:srgbClr val="00509E"/>
                </a:solidFill>
                <a:latin typeface="Segoe UI"/>
              </a:defRPr>
            </a:pPr>
            <a:r>
              <a:t>ANALISIS INTELIGENTE</a:t>
            </a:r>
          </a:p>
        </p:txBody>
      </p:sp>
      <p:sp>
        <p:nvSpPr>
          <p:cNvPr id="14" name="TextBox 13"/>
          <p:cNvSpPr txBox="1"/>
          <p:nvPr/>
        </p:nvSpPr>
        <p:spPr>
          <a:xfrm>
            <a:off x="640080" y="5120640"/>
            <a:ext cx="7863840" cy="960120"/>
          </a:xfrm>
          <a:prstGeom prst="rect">
            <a:avLst/>
          </a:prstGeom>
          <a:noFill/>
        </p:spPr>
        <p:txBody>
          <a:bodyPr wrap="square">
            <a:spAutoFit/>
          </a:bodyPr>
          <a:lstStyle/>
          <a:p>
            <a:pPr algn="just">
              <a:defRPr sz="1100" i="1">
                <a:solidFill>
                  <a:srgbClr val="111827"/>
                </a:solidFill>
                <a:latin typeface="Segoe UI"/>
              </a:defRPr>
            </a:pPr>
            <a:r>
              <a:t>Esta es una narrativa muy larga para la pregunta 19 que debe ajustarse correctamente dentro de la caja de narrativa sin desbordar los márgenes de la diapositiva. Incluye análisis detallado de tendencias y recomendaciones específicas para mejorar la experiencia del usuario.</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37160" cy="6858000"/>
          </a:xfrm>
          <a:prstGeom prst="rect">
            <a:avLst/>
          </a:prstGeom>
          <a:solidFill>
            <a:srgbClr val="0050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400" b="1">
                <a:solidFill>
                  <a:srgbClr val="111827"/>
                </a:solidFill>
                <a:latin typeface="Segoe UI"/>
              </a:defRPr>
            </a:pPr>
            <a:r>
              <a:t>20. Pregunta 20: ¿Qué opinas sobre el aspecto #20 del servicio prestado?</a:t>
            </a:r>
          </a:p>
        </p:txBody>
      </p:sp>
      <p:sp>
        <p:nvSpPr>
          <p:cNvPr id="4" name="Rounded Rectangle 3"/>
          <p:cNvSpPr/>
          <p:nvPr/>
        </p:nvSpPr>
        <p:spPr>
          <a:xfrm>
            <a:off x="493776" y="1408176"/>
            <a:ext cx="3200400" cy="1828800"/>
          </a:xfrm>
          <a:prstGeom prst="roundRect">
            <a:avLst/>
          </a:prstGeom>
          <a:solidFill>
            <a:srgbClr val="DCDC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371600"/>
            <a:ext cx="3200400" cy="1828800"/>
          </a:xfrm>
          <a:prstGeom prst="roundRect">
            <a:avLst/>
          </a:prstGeom>
          <a:solidFill>
            <a:srgbClr val="FFFFFF"/>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554480"/>
            <a:ext cx="2834640" cy="274320"/>
          </a:xfrm>
          <a:prstGeom prst="rect">
            <a:avLst/>
          </a:prstGeom>
          <a:noFill/>
        </p:spPr>
        <p:txBody>
          <a:bodyPr wrap="none">
            <a:spAutoFit/>
          </a:bodyPr>
          <a:lstStyle/>
          <a:p>
            <a:pPr>
              <a:defRPr sz="1000" b="1">
                <a:solidFill>
                  <a:srgbClr val="6B7280"/>
                </a:solidFill>
                <a:latin typeface="Segoe UI"/>
              </a:defRPr>
            </a:pPr>
            <a:r>
              <a:t>TOP OPCIÓN</a:t>
            </a:r>
          </a:p>
        </p:txBody>
      </p:sp>
      <p:sp>
        <p:nvSpPr>
          <p:cNvPr id="7" name="TextBox 6"/>
          <p:cNvSpPr txBox="1"/>
          <p:nvPr/>
        </p:nvSpPr>
        <p:spPr>
          <a:xfrm>
            <a:off x="640080" y="1783080"/>
            <a:ext cx="2834640" cy="731520"/>
          </a:xfrm>
          <a:prstGeom prst="rect">
            <a:avLst/>
          </a:prstGeom>
          <a:noFill/>
        </p:spPr>
        <p:txBody>
          <a:bodyPr wrap="square" anchor="t">
            <a:spAutoFit/>
          </a:bodyPr>
          <a:lstStyle/>
          <a:p>
            <a:pPr>
              <a:defRPr sz="1800" b="1">
                <a:solidFill>
                  <a:srgbClr val="00509E"/>
                </a:solidFill>
                <a:latin typeface="Segoe UI"/>
              </a:defRPr>
            </a:pPr>
            <a:r>
              <a:t>Opción favorita 20 (65%)</a:t>
            </a:r>
          </a:p>
        </p:txBody>
      </p:sp>
      <p:sp>
        <p:nvSpPr>
          <p:cNvPr id="8" name="TextBox 7"/>
          <p:cNvSpPr txBox="1"/>
          <p:nvPr/>
        </p:nvSpPr>
        <p:spPr>
          <a:xfrm>
            <a:off x="640080" y="2606040"/>
            <a:ext cx="2834640" cy="274320"/>
          </a:xfrm>
          <a:prstGeom prst="rect">
            <a:avLst/>
          </a:prstGeom>
          <a:noFill/>
        </p:spPr>
        <p:txBody>
          <a:bodyPr wrap="none">
            <a:spAutoFit/>
          </a:bodyPr>
          <a:lstStyle/>
          <a:p>
            <a:pPr>
              <a:defRPr sz="1100">
                <a:solidFill>
                  <a:srgbClr val="10B981"/>
                </a:solidFill>
                <a:latin typeface="Segoe UI"/>
              </a:defRPr>
            </a:pPr>
            <a:r>
              <a:t>▲ 5.0% vs. periodo ant.</a:t>
            </a:r>
          </a:p>
        </p:txBody>
      </p:sp>
      <p:sp>
        <p:nvSpPr>
          <p:cNvPr id="9" name="Rounded Rectangle 8"/>
          <p:cNvSpPr/>
          <p:nvPr/>
        </p:nvSpPr>
        <p:spPr>
          <a:xfrm>
            <a:off x="4151376" y="1408176"/>
            <a:ext cx="4572000" cy="3200400"/>
          </a:xfrm>
          <a:prstGeom prst="roundRect">
            <a:avLst/>
          </a:prstGeom>
          <a:solidFill>
            <a:srgbClr val="DCDC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114800" y="1371600"/>
            <a:ext cx="4572000" cy="3200400"/>
          </a:xfrm>
          <a:prstGeom prst="roundRect">
            <a:avLst/>
          </a:prstGeom>
          <a:solidFill>
            <a:srgbClr val="FFFFFF"/>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png"/>
          <p:cNvPicPr>
            <a:picLocks noChangeAspect="1"/>
          </p:cNvPicPr>
          <p:nvPr/>
        </p:nvPicPr>
        <p:blipFill>
          <a:blip r:embed="rId2"/>
          <a:stretch>
            <a:fillRect/>
          </a:stretch>
        </p:blipFill>
        <p:spPr>
          <a:xfrm>
            <a:off x="4206240" y="1463040"/>
            <a:ext cx="4389120" cy="3017520"/>
          </a:xfrm>
          <a:prstGeom prst="rect">
            <a:avLst/>
          </a:prstGeom>
        </p:spPr>
      </p:pic>
      <p:sp>
        <p:nvSpPr>
          <p:cNvPr id="12" name="Rounded Rectangle 11"/>
          <p:cNvSpPr/>
          <p:nvPr/>
        </p:nvSpPr>
        <p:spPr>
          <a:xfrm>
            <a:off x="457200" y="4754880"/>
            <a:ext cx="8229600" cy="1463040"/>
          </a:xfrm>
          <a:prstGeom prst="roundRect">
            <a:avLst/>
          </a:prstGeom>
          <a:solidFill>
            <a:srgbClr val="F2F6FA"/>
          </a:solidFill>
          <a:ln w="12700">
            <a:solidFill>
              <a:srgbClr val="CCDC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4892040"/>
            <a:ext cx="7863840" cy="274320"/>
          </a:xfrm>
          <a:prstGeom prst="rect">
            <a:avLst/>
          </a:prstGeom>
          <a:noFill/>
        </p:spPr>
        <p:txBody>
          <a:bodyPr wrap="none">
            <a:spAutoFit/>
          </a:bodyPr>
          <a:lstStyle/>
          <a:p>
            <a:pPr>
              <a:defRPr sz="900" b="1">
                <a:solidFill>
                  <a:srgbClr val="00509E"/>
                </a:solidFill>
                <a:latin typeface="Segoe UI"/>
              </a:defRPr>
            </a:pPr>
            <a:r>
              <a:t>ANALISIS INTELIGENTE</a:t>
            </a:r>
          </a:p>
        </p:txBody>
      </p:sp>
      <p:sp>
        <p:nvSpPr>
          <p:cNvPr id="14" name="TextBox 13"/>
          <p:cNvSpPr txBox="1"/>
          <p:nvPr/>
        </p:nvSpPr>
        <p:spPr>
          <a:xfrm>
            <a:off x="640080" y="5120640"/>
            <a:ext cx="7863840" cy="960120"/>
          </a:xfrm>
          <a:prstGeom prst="rect">
            <a:avLst/>
          </a:prstGeom>
          <a:noFill/>
        </p:spPr>
        <p:txBody>
          <a:bodyPr wrap="square">
            <a:spAutoFit/>
          </a:bodyPr>
          <a:lstStyle/>
          <a:p>
            <a:pPr algn="just">
              <a:defRPr sz="1100" i="1">
                <a:solidFill>
                  <a:srgbClr val="111827"/>
                </a:solidFill>
                <a:latin typeface="Segoe UI"/>
              </a:defRPr>
            </a:pPr>
            <a:r>
              <a:t>Esta es una narrativa muy larga para la pregunta 20 que debe ajustarse correctamente dentro de la caja de narrativa sin desbordar los márgenes de la diapositiva. Incluye análisis detallado de tendencias y recomendaciones específicas para mejorar la experiencia del usuario.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